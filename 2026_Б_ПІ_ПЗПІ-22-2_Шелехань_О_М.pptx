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82" y="8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618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Вітаю, мене звати Олександр Шелехань. Тема моєї кваліфікаційної роботи — інтелектуальна платформа мультиагентної взаємодії AgentForge для створення програмних проєктів. Мій особистий внесок — виконавчий сервіс, який власне і виконує мультиагентні сесії. Далі коротко про мету, технології, архітектуру, і головне — як воно працює та як застосовується.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Мета роботи — спроєктувати й реалізувати виконавчий сервіс, який виконує мультиагентні сесії. Три речі відрізняють його від типового рішення: граф агентів будується динамічно під конфігурацію кожної сесії; хід виконання стрімиться в реальному часі; і вся інтеграція з платформою йде тільки через брокер повідомлень, що дає розподілене виконання.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 проаналізував популярні фреймворки — CrewAI, AutoGen, MetaGPT. Усі вони потужні, але це монолітні бібліотеки для одного процесу: немає розподіленого розгортання, немає стрімінгу проміжних подій через брокер, немає машиночитаних кодів помилок. Звідси висновок — потрібен окремий stateless-виконавець, інтегрований через брокер, з динамічною маршрутизацією і стрімінгом.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Виконавчий сервіс — це stateless-мікросервіс з чотирма ключовими властивостями. Перше — stateless-архітектура: він не зберігає внутрішнього стану між сесіями, тому масштабується горизонтально просто додаванням реплік. Друге — асинхронне споживання завдань з черги RabbitMQ у режимі «одна активна сесія на екземпляр». Третє — граф агентів LangGraph компілюється динамічно під конфігурацію команди. Четверте — усі проміжні події й результати стрімляться назад у чергу. На діаграмі видно контекст: воркер отримує задачі з брокера і публікує результат, звертається до LLM-провайдера через Ollama, і в межах сесії реалізує Supervisor-архітектуру, ролі агентів, виконання підзадач і синтез фінальної відповіді.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Стек сервісу: Python 3.11 як мова. LangGraph — основа: він дає граф станів агентів з умовними переходами і містить ReAct як готовий примітив. LangChain Core — адаптери моделей та інструменти. Pydantic — валідація всіх контрактів. pika — клієнт RabbitMQ. structlog — структуровані JSON-логи. Docker для пакування. І моделі — локальні через Ollama або зовнішні через OpenAI-сумісне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Платформа має чотири рівні — клієнтський, шлюзовий, серверний та інфраструктурний. Принципове рішення: оркестратор і виконавчий сервіс не мають прямої мережевої залежності — вся взаємодія через RabbitMQ. Це дозволяє розвивати й масштабувати їх незалежно і брати найдоречнішу технологію: .NET для сервера застосунків, Python для ШІ. На діаграмі виконавчий сервіс виділено — це предмет моєї роботи; він знаходиться на серверному рівні поряд з оркестратором.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Внутрішньо сервіс безпам'ятний і поділений на три рівні. Верхній — обмін повідомленнями: адаптер брокера і публікатор подій, тут зосереджена вся мережева логіка. Середній — виконання: координатор сесії, будівник графа LangGraph, виконавець агентів і перетворювач подій, який працює як Anti-Corruption Layer між внутрішнім представленням фреймворку та стабільним доменним контрактом. Нижній — абстракції: реєстр інструментів і провайдер-незалежна фабрика моделей. Такий поділ дає єдину відповідальність і легке тестування логіки в ізоляції від інфраструктури.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Життєвий цикл сесії поділений на дві фази — синхронну та асинхронну. Синхронно: клієнт через API Gateway надсилає запит оркестратору, той валідує, фіксує в БД і публікує у вхідну чергу — клієнту одразу повертається успіх. Далі асинхронно: вільний екземпляр воркера бере сесію, будує граф LangGraph під конфігурацію команди і передає керування Supervisor-у. Третій етап — стрімінг: кожна значуща подія публікується в чергу і одразу ретранслюється клієнту через WebSocket. Завершення — фінальна відповідь із повним трейсом або типізована помилка з машиночитаним кодом. Ключова гарантія: підтвердження брокеру надсилається лише після публікації, тому втрата екземпляра означає повторну обробку іншим воркером, а не втрату сесії.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патерни організують роботу команди. Supervisor — централізована маршрутизація: координатор зі структурованим виводом обирає наступного агента, а невалідний вибір відхиляється, що захищає від галюцинацій. Кожен агент працює за циклом ReAct — почергово міркує і діє, викликаючи інструменти. А Blackboard — спільний блокнот: агенти обмінюються проміжними даними, не роздуваючи контекстне вікно.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Кілька ключових рішень у коді. Фабрика моделей: сервіс працює і з локальним Ollama, і з зовнішнім OpenAI-API, причому провайдер задається на рівні агента — новий провайдер додається розширенням однієї функції. Граф будується динамічно під команду, зірковою топологією, без жорстко закодованих ролей. Координатор гібридний: за замовчуванням детермінований режим за маркером схвалення — бо слабкі локальні моделі як суддя майже завжди кажуть END. Є жорсткий захист від зациклення з типізованою помилкою. І безпека — інструмент read_file блокує вихід за межі робочого каталогу.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Надійність. Anti-Corruption Layer перетворює низькорівневі події LangGraph у стабільні доменні події — платформа не залежить від версії бібліотеки. Exponential Backoff: при втраті брокера інтервал перепідключення подвоюється до межі, після відновлення споживання триває без втрат. Помилки класифікуються машиночитаними кодами й ідуть у чотири окремі черги. І семантика ack-after-publish: підтвердження надсилається лише після публікації результату, тому аварія екземпляра означає автоматичну повторну доставку, а не втрату сесії.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Як це застосовується на практиці, на прикладі команди «розробник — рецензент». Крок перший — оркестратор задає конфігурацію: ролі, промпти, інструменти й моделі. Другий — публікує повідомлення із запитом і повним контекстом у чергу. Третій — вільний екземпляр сервісу будує граф, проганяє агентів і стрімить проміжні події в реальному часі. Четвертий — повертає фінальну відповідь із повним трейсом у чергу результатів, а у разі збою — повідомлення з машиночитаним кодом помилки.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Тестування. Головний виклик — недетермінованість LLM, тому в тестах виклики моделі мокуються дублерами: конвеєр стабільний, швидкий і повторюваний. Стратегія — класична тестова піраміда: основа — швидкі модульні тести бізнес-логіки, посередині — інтеграція з інфраструктурою, вершина — наскрізні сценарії. Важливий момент зрілості підходу: інфраструктурний шар — RabbitMQ — тестується не моком, а справжнім брокером у ephemeral-контейнері через testcontainers. Це валідує реальний інфраструктурний контракт. У підсумку: 28 автоматизованих тестів (24 модульних, 1 інтеграційний, 3 наскрізних), 70% покриття при близько 600 стейтментах.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Впровадження. Docker-образ мультистадійний: стадії build і runtime розділені, фінальний образ мінімальний і виконується під non-root користувачем — це зменшує поверхню атаки. Docker Compose піднімає одразу дві репліки на одну чергу — і це наочно демонструє горизонтальне масштабування без координації: брокер розподіляє запити round-robin, а масштабування — це просто зміна цифри в конфігурації. Конфігурація 12-факторна через змінні середовища. Весь конвеєр автоматизовано на GitHub Actions — на скріншоті видно успішний прогін: спочатку задача Unit &amp; E2E tests з обов'язковим гейтом 70% покриття, після неї — Build Docker image, який публікує мультиплатформний образ у реєстр контейнерів.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Підсумовуючи: реалізовано stateless виконавчий сервіс мультиагентного виконання, повністю відокремлений від оркестратора через асинхронний брокер. Застосовано п'ять ключових патернів, досягнуто 70% покриття тестами, налаштовано контейнеризацію та CI/CD з демонстрацією горизонтального масштабування. Напрями розвитку — перехід на Kubernetes з автомасштабуванням за довжиною черги, пул моделей на кількох GPU, повна спостережуваність через Prometheus і OpenTelemetry та нові інструменти агентів. Дякую за увагу, готовий відповісти на запитання.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Харківський національний університет радіоелектроніки  ·  Кафедра програмної інженерії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10241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КВАЛІФІКАЦІЙНА РОБОТА БАКАЛАВРА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1335024"/>
            <a:ext cx="53949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Інтелектуальна платформа мультиагентної взаємодії для створення програмних проєктів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502920" y="316382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Конфігурація та взаємодія агентів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639312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Мікросервіс оркестрації ШІ-агентів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—   Python · LangGraph · RabbitMQ · Docker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4133088"/>
            <a:ext cx="5394960" cy="749808"/>
          </a:xfrm>
          <a:prstGeom prst="roundRect">
            <a:avLst>
              <a:gd name="adj" fmla="val 9756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13232" y="422452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Виконав:  </a:t>
            </a: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Олександр ШЕЛЕХАНЬ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ПЗПІ-22-2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455371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Керівник:  </a:t>
            </a:r>
            <a:r>
              <a:rPr lang="en-US" sz="12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доц. каф. ПІ Віктор КАУК</a:t>
            </a: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Харків, 2026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360920" y="1783080"/>
            <a:ext cx="0" cy="868680"/>
          </a:xfrm>
          <a:prstGeom prst="line">
            <a:avLst/>
          </a:prstGeom>
          <a:noFill/>
          <a:ln w="19050">
            <a:solidFill>
              <a:srgbClr val="C4D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360920" y="2651760"/>
            <a:ext cx="0" cy="868680"/>
          </a:xfrm>
          <a:prstGeom prst="line">
            <a:avLst/>
          </a:prstGeom>
          <a:noFill/>
          <a:ln w="19050">
            <a:solidFill>
              <a:srgbClr val="C4D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492240" y="2651760"/>
            <a:ext cx="868680" cy="0"/>
          </a:xfrm>
          <a:prstGeom prst="line">
            <a:avLst/>
          </a:prstGeom>
          <a:noFill/>
          <a:ln w="19050">
            <a:solidFill>
              <a:srgbClr val="C4D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360920" y="2651760"/>
            <a:ext cx="868680" cy="0"/>
          </a:xfrm>
          <a:prstGeom prst="line">
            <a:avLst/>
          </a:prstGeom>
          <a:noFill/>
          <a:ln w="19050">
            <a:solidFill>
              <a:srgbClr val="C4D0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141464" y="1563624"/>
            <a:ext cx="438912" cy="438912"/>
          </a:xfrm>
          <a:prstGeom prst="ellipse">
            <a:avLst/>
          </a:prstGeom>
          <a:solidFill>
            <a:srgbClr val="2B3E5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010144" y="2432304"/>
            <a:ext cx="438912" cy="438912"/>
          </a:xfrm>
          <a:prstGeom prst="ellipse">
            <a:avLst/>
          </a:prstGeom>
          <a:solidFill>
            <a:srgbClr val="2B3E5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141464" y="3300984"/>
            <a:ext cx="438912" cy="438912"/>
          </a:xfrm>
          <a:prstGeom prst="ellipse">
            <a:avLst/>
          </a:prstGeom>
          <a:solidFill>
            <a:srgbClr val="2B3E5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272784" y="2432304"/>
            <a:ext cx="438912" cy="438912"/>
          </a:xfrm>
          <a:prstGeom prst="ellipse">
            <a:avLst/>
          </a:prstGeom>
          <a:solidFill>
            <a:srgbClr val="2B3E5C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76872" y="2267712"/>
            <a:ext cx="768096" cy="768096"/>
          </a:xfrm>
          <a:prstGeom prst="ellipse">
            <a:avLst/>
          </a:prstGeom>
          <a:solidFill>
            <a:srgbClr val="0D9488"/>
          </a:solidFill>
          <a:ln w="31750">
            <a:solidFill>
              <a:srgbClr val="FFFFFF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976872" y="2267712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943600" y="39776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+ команда агентів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Мета роботи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8138160" cy="1234440"/>
          </a:xfrm>
          <a:prstGeom prst="roundRect">
            <a:avLst>
              <a:gd name="adj" fmla="val 5926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5361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Спроєктувати та </a:t>
            </a:r>
            <a:r>
              <a:rPr lang="en-US" sz="1700" dirty="0" err="1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реалізувати</a:t>
            </a:r>
            <a:r>
              <a:rPr lang="en-US" sz="17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1700" dirty="0" err="1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оркестраці</a:t>
            </a:r>
            <a:r>
              <a:rPr lang="uk-UA" sz="17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ю</a:t>
            </a:r>
            <a:r>
              <a:rPr lang="en-US" sz="1700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ШІ-агентів у складі платформи AgentForge, що виконує сесії команди агентів, динамічно будує граф взаємодії за зовнішньою конфігурацією та стрімить проміжні події у реальному часі.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властивості, що визначають сервіс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3310128"/>
            <a:ext cx="25298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3511296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04088" y="3730752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Динамічний граф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4023360"/>
            <a:ext cx="2127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агентів будується «на льоту» під кожну сесію — без жорстко закодованих ролей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307080" y="3310128"/>
            <a:ext cx="25298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08248" y="3511296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08248" y="3730752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Стрімінг подій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08248" y="4023360"/>
            <a:ext cx="2127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хід виконання публікується в реальному часі, а не лише фінальна відповідь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1240" y="3310128"/>
            <a:ext cx="252984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12408" y="3511296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312408" y="3730752"/>
            <a:ext cx="2127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Розподілене виконання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12408" y="4023360"/>
            <a:ext cx="2127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інтеграція з платформою виключно через брокер повідомлень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Аналіз існуючих рішень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Популярні мультиагентні фреймворки — це монолітні бібліотеки, розраховані на один процес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2529840" cy="2331720"/>
          </a:xfrm>
          <a:prstGeom prst="roundRect">
            <a:avLst>
              <a:gd name="adj" fmla="val 313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04088" y="1810512"/>
            <a:ext cx="2127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CrewAI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4088" y="2194560"/>
            <a:ext cx="212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Оркестрація ролей у межах одного застосунку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" y="2798064"/>
            <a:ext cx="2127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04088" y="3035808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Немає розподіленого розгортання та стрімінгу проміжних подій через брокер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07080" y="1627632"/>
            <a:ext cx="2529840" cy="2331720"/>
          </a:xfrm>
          <a:prstGeom prst="roundRect">
            <a:avLst>
              <a:gd name="adj" fmla="val 313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08248" y="1810512"/>
            <a:ext cx="2127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AutoGen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08248" y="2194560"/>
            <a:ext cx="212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Бібліотека для діалогу кількох агентів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8248" y="2798064"/>
            <a:ext cx="2127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8248" y="3035808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Динаміка обмежена процесом; немає брокера як єдиного інтерфейсу та кодів помилок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11240" y="1627632"/>
            <a:ext cx="2529840" cy="2331720"/>
          </a:xfrm>
          <a:prstGeom prst="roundRect">
            <a:avLst>
              <a:gd name="adj" fmla="val 3137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12408" y="1810512"/>
            <a:ext cx="2127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MetaGPT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12408" y="2194560"/>
            <a:ext cx="2127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6000"/>
              </a:lnSpc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Імітація ролей команди розробки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12408" y="2798064"/>
            <a:ext cx="2127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Обмеження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312408" y="3035808"/>
            <a:ext cx="21275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Фіксований сценарій; немає динамічної маршрутизації та промислового масштабування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" y="4160520"/>
            <a:ext cx="8138160" cy="658368"/>
          </a:xfrm>
          <a:prstGeom prst="roundRect">
            <a:avLst>
              <a:gd name="adj" fmla="val 11111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31520" y="4233672"/>
            <a:ext cx="7772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Висновок:  </a:t>
            </a: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потрібен окремий stateless-виконавець з інтеграцією через брокер, динамічною маршрутизацією та стрімінгом подій у реальному часі.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Виконавчий сервіс: роль у платформі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Ключові властивості компонента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5049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Stateless-архітектура обробки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1856232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виконання сесії без збереження внутрішнього стану; горизонтальне масштабування «з коробки»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47345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40487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Асинхронне споживання завдань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" y="2679192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підписка на чергу RabbitMQ з обмеженням «одна активна сесія на екземпляр»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29641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32278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Динамічна конструкція графа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3502152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станів LangGraph компілюється під конфігурацію команди з повідомлення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11937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405079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Стрімінг доменних подій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" y="4325112"/>
            <a:ext cx="3904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публікація проміжних подій, результатів та типізованих помилок у вихідні черги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1371600"/>
            <a:ext cx="37947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0" descr="/home/claude/assets/worker_n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2047607"/>
            <a:ext cx="3502152" cy="193982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846320" y="471830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Взаємодія Worker-сервісу з рештою платформи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Технології розробки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виконавчого сервісу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167792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60934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3.12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1883664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мова сервісу — зріла екосистема бібліотек штучного інтелекту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663440" y="167792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9472" y="1609344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LangGraph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919472" y="1883664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станів агентів з умовними переходами; ReAct як готовий примітив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44602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237744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LangChain Core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2651760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адаптери мовних моделей та інтерфейс інструментів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44602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919472" y="237744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Pydantic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919472" y="2651760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моделі даних, валідація контрактів і конфігурації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21411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58952" y="314553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pika (AMQP)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8952" y="3419856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 брокера повідомлень RabbitMQ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321411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19472" y="314553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structlog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19472" y="3419856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структуроване журналювання у форматі JSON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8221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8952" y="39136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Docker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58952" y="4187952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контейнеризація; мультистадійний образ, non-root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98221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9472" y="391363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Ollama / OpenAI-API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4919472" y="4187952"/>
            <a:ext cx="3721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локальні та зовнішні мовні моделі агентів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Архітектура платформи AgentForge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617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рівні: клієнтський · шлюзовий · серверний · інфраструктурний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9738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828800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Дві платформи, одна межа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103120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 на .NET (REST API, події, БД) і виконавчий сервіс на Python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647188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578608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Немає прямої залежності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" y="2852928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взаємодії — виключно через брокер RabbitMQ, без синхронних викликів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3969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3328416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Незалежний розвиток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3602736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компоненти оновлюються й масштабуються окремо, кожен — своєю технологією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14680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58952" y="4078224"/>
            <a:ext cx="4361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Основа сервісу — LangGraph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758952" y="4352544"/>
            <a:ext cx="43616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 станів з умовними переходами та ReAct як примітив агента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1280160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0D9488"/>
          </a:solidFill>
          <a:ln w="12700">
            <a:solidFill>
              <a:srgbClr val="B7E4DA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696712" y="1353312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КЛІЄНТСЬКИЙ РІВЕНЬ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696712" y="1536192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Web-клієнт (браузер, WebSocket)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532120" y="1947672"/>
            <a:ext cx="3108960" cy="594360"/>
          </a:xfrm>
          <a:prstGeom prst="roundRect">
            <a:avLst>
              <a:gd name="adj" fmla="val 12308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696712" y="2020824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ШЛЮЗОВИЙ РІВЕНЬ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96712" y="2203704"/>
            <a:ext cx="2779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·  HTTP + WebSocket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532120" y="2615184"/>
            <a:ext cx="3108960" cy="1170432"/>
          </a:xfrm>
          <a:prstGeom prst="roundRect">
            <a:avLst>
              <a:gd name="adj" fmla="val 625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696712" y="2688336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СЕРВЕРНИЙ РІВЕНЬ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96712" y="2862072"/>
            <a:ext cx="1344168" cy="886968"/>
          </a:xfrm>
          <a:prstGeom prst="roundRect">
            <a:avLst>
              <a:gd name="adj" fmla="val 824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696712" y="299008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Оркестратор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96712" y="324612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.NET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696712" y="3456432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· БД · події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132320" y="2862072"/>
            <a:ext cx="1344168" cy="886968"/>
          </a:xfrm>
          <a:prstGeom prst="roundRect">
            <a:avLst>
              <a:gd name="adj" fmla="val 8247"/>
            </a:avLst>
          </a:prstGeom>
          <a:solidFill>
            <a:srgbClr val="EEFBF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132320" y="2990088"/>
            <a:ext cx="1344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Виконавчий сервіс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132320" y="3246120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132320" y="3456432"/>
            <a:ext cx="1344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ReAct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532120" y="3858768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696712" y="3931920"/>
            <a:ext cx="27797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ІНФРАСТРУКТУРНИЙ РІВЕНЬ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96712" y="4114800"/>
            <a:ext cx="865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696712" y="4114800"/>
            <a:ext cx="86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653784" y="4114800"/>
            <a:ext cx="865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653784" y="4114800"/>
            <a:ext cx="86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SQL Server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610856" y="4114800"/>
            <a:ext cx="865632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610856" y="4114800"/>
            <a:ext cx="86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Внутрішня архітектура сервісу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Stateless-обробка сесій · три логічні рівні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92481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8562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Рівень обміну повідомленнями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58952" y="2130552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уся мережева логіка ізольована тут: адаптер брокера і публікатор доменних подій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83921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7706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Рівень виконання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8952" y="3044952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оркестрація сесії — координатор, будівник графа, виконавець агентів, перетворювач подій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75361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368503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Рівень абстракцій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58952" y="3959352"/>
            <a:ext cx="39044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приховує деталі зовнішніх залежностей: реєстр інструментів + фабрика мовних моделей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280160"/>
            <a:ext cx="3794760" cy="914400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010912" y="1353312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ОБМІНУ ПОВІДОМЛЕННЯМИ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010912" y="1572768"/>
            <a:ext cx="16687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010912" y="1572768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AMQP-адаптер брокера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07708" y="1572768"/>
            <a:ext cx="166878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07708" y="1572768"/>
            <a:ext cx="16687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Публікатор подій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43700" y="2194560"/>
            <a:ext cx="0" cy="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846320" y="2331720"/>
            <a:ext cx="3794760" cy="1600200"/>
          </a:xfrm>
          <a:prstGeom prst="roundRect">
            <a:avLst>
              <a:gd name="adj" fmla="val 4571"/>
            </a:avLst>
          </a:prstGeom>
          <a:solidFill>
            <a:srgbClr val="EEFBF8"/>
          </a:solidFill>
          <a:ln w="12700">
            <a:solidFill>
              <a:srgbClr val="B7E4DA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010912" y="2404872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ВИКОНАННЯ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10912" y="2606040"/>
            <a:ext cx="16687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10912" y="260604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Координатор сесії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07708" y="2606040"/>
            <a:ext cx="16687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07708" y="2606040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Будівник графа (LangGraph)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010912" y="3236976"/>
            <a:ext cx="16687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010912" y="3236976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Виконавець агентів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07708" y="3236976"/>
            <a:ext cx="16687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07708" y="3236976"/>
            <a:ext cx="1668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Перетворювач подій (ACL)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743700" y="3931920"/>
            <a:ext cx="0" cy="13716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46320" y="4069080"/>
            <a:ext cx="3794760" cy="731520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10912" y="4142232"/>
            <a:ext cx="3465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РІВЕНЬ АБСТРАКЦІЙ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10912" y="4315968"/>
            <a:ext cx="16687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5010912" y="4315968"/>
            <a:ext cx="16687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інструментів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07708" y="4315968"/>
            <a:ext cx="1668780" cy="43891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807708" y="4315968"/>
            <a:ext cx="16687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Фабрика моделей (Ollama/OpenAI)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Життєвий цикл обробки сесії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запиту клієнта до фінального результату — синхронна ініціація та асинхронне виконання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1897380" cy="3154680"/>
          </a:xfrm>
          <a:prstGeom prst="roundRect">
            <a:avLst>
              <a:gd name="adj" fmla="val 385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9002" y="1847088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59002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" y="2560320"/>
            <a:ext cx="16047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СИНХРОННА ФАЗА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9224" y="2816352"/>
            <a:ext cx="16047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Прийом запиту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7512" y="3364992"/>
            <a:ext cx="1604772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050" dirty="0"/>
              <a:t>Валідація </a:t>
            </a:r>
            <a:r>
              <a:rPr lang="en-US" sz="1050" dirty="0" err="1"/>
              <a:t>запиту</a:t>
            </a:r>
            <a:r>
              <a:rPr lang="en-US" sz="1050" dirty="0"/>
              <a:t> </a:t>
            </a:r>
            <a:r>
              <a:rPr lang="en-US" sz="1050" dirty="0" err="1"/>
              <a:t>оркестратором</a:t>
            </a:r>
            <a:r>
              <a:rPr lang="en-US" sz="1050" dirty="0"/>
              <a:t>, </a:t>
            </a:r>
            <a:r>
              <a:rPr lang="en-US" sz="1050" dirty="0" err="1"/>
              <a:t>фіксація</a:t>
            </a:r>
            <a:r>
              <a:rPr lang="en-US" sz="1050" dirty="0"/>
              <a:t> </a:t>
            </a:r>
            <a:r>
              <a:rPr lang="en-US" sz="1050" dirty="0" err="1"/>
              <a:t>стану</a:t>
            </a:r>
            <a:r>
              <a:rPr lang="en-US" sz="1050" dirty="0"/>
              <a:t> в БД </a:t>
            </a:r>
            <a:r>
              <a:rPr lang="en-US" sz="1050" dirty="0" err="1"/>
              <a:t>та</a:t>
            </a:r>
            <a:r>
              <a:rPr lang="en-US" sz="1050" dirty="0"/>
              <a:t> </a:t>
            </a:r>
            <a:r>
              <a:rPr lang="en-US" sz="1050" dirty="0" err="1"/>
              <a:t>публікація</a:t>
            </a:r>
            <a:r>
              <a:rPr lang="en-US" sz="1050" dirty="0"/>
              <a:t> у </a:t>
            </a:r>
            <a:r>
              <a:rPr lang="en-US" sz="1050" dirty="0" err="1"/>
              <a:t>вхідну</a:t>
            </a:r>
            <a:r>
              <a:rPr lang="en-US" sz="1050" dirty="0"/>
              <a:t> </a:t>
            </a:r>
            <a:r>
              <a:rPr lang="en-US" sz="1050" dirty="0" err="1"/>
              <a:t>чергу</a:t>
            </a:r>
            <a:r>
              <a:rPr lang="en-US" sz="1050" dirty="0"/>
              <a:t> RabbitMQ. </a:t>
            </a:r>
            <a:r>
              <a:rPr lang="en-US" sz="1050" dirty="0" err="1"/>
              <a:t>Клієнт</a:t>
            </a:r>
            <a:r>
              <a:rPr lang="en-US" sz="1050" dirty="0"/>
              <a:t> </a:t>
            </a:r>
            <a:r>
              <a:rPr lang="en-US" sz="1050" dirty="0" err="1"/>
              <a:t>миттєво</a:t>
            </a:r>
            <a:r>
              <a:rPr lang="en-US" sz="1050" dirty="0"/>
              <a:t> </a:t>
            </a:r>
            <a:r>
              <a:rPr lang="en-US" sz="1050" dirty="0" err="1"/>
              <a:t>отримує</a:t>
            </a:r>
            <a:r>
              <a:rPr lang="en-US" sz="1050" dirty="0"/>
              <a:t> </a:t>
            </a:r>
            <a:r>
              <a:rPr lang="en-US" sz="1050" dirty="0" err="1"/>
              <a:t>підтвердження</a:t>
            </a:r>
            <a:r>
              <a:rPr lang="en-US" sz="1050" dirty="0"/>
              <a:t> </a:t>
            </a:r>
            <a:r>
              <a:rPr lang="en-US" sz="1050" dirty="0" err="1"/>
              <a:t>прийняття</a:t>
            </a:r>
            <a:r>
              <a:rPr lang="en-US" sz="1050" dirty="0"/>
              <a:t> </a:t>
            </a:r>
            <a:r>
              <a:rPr lang="en-US" sz="1050" dirty="0" err="1"/>
              <a:t>завдання</a:t>
            </a:r>
            <a:r>
              <a:rPr lang="en-US" sz="1050" dirty="0"/>
              <a:t> в </a:t>
            </a:r>
            <a:r>
              <a:rPr lang="en-US" sz="1050" dirty="0" err="1"/>
              <a:t>обробку</a:t>
            </a:r>
            <a:r>
              <a:rPr lang="en-US" sz="1050" dirty="0"/>
              <a:t> (Non-blocking I/O).</a:t>
            </a:r>
          </a:p>
        </p:txBody>
      </p:sp>
      <p:sp>
        <p:nvSpPr>
          <p:cNvPr id="12" name="Shape 10"/>
          <p:cNvSpPr/>
          <p:nvPr/>
        </p:nvSpPr>
        <p:spPr>
          <a:xfrm>
            <a:off x="2583180" y="1627632"/>
            <a:ext cx="1897380" cy="3154680"/>
          </a:xfrm>
          <a:prstGeom prst="roundRect">
            <a:avLst>
              <a:gd name="adj" fmla="val 385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39262" y="1847088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39262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729484" y="2560320"/>
            <a:ext cx="16047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29484" y="2816352"/>
            <a:ext cx="16047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Побудова та запуск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747772" y="3364992"/>
            <a:ext cx="156819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050" dirty="0" err="1"/>
              <a:t>Споживання</a:t>
            </a:r>
            <a:r>
              <a:rPr lang="en-US" sz="1050" dirty="0"/>
              <a:t> </a:t>
            </a:r>
            <a:r>
              <a:rPr lang="en-US" sz="1050" dirty="0" err="1"/>
              <a:t>сесії</a:t>
            </a:r>
            <a:r>
              <a:rPr lang="en-US" sz="1050" dirty="0"/>
              <a:t> </a:t>
            </a:r>
            <a:r>
              <a:rPr lang="en-US" sz="1050" dirty="0" err="1"/>
              <a:t>воркером</a:t>
            </a:r>
            <a:r>
              <a:rPr lang="uk-UA" sz="1050" dirty="0"/>
              <a:t>. </a:t>
            </a:r>
            <a:r>
              <a:rPr lang="en-US" sz="1050" dirty="0" err="1"/>
              <a:t>Динамічна</a:t>
            </a:r>
            <a:r>
              <a:rPr lang="en-US" sz="1050" dirty="0"/>
              <a:t> </a:t>
            </a:r>
            <a:r>
              <a:rPr lang="en-US" sz="1050" dirty="0" err="1"/>
              <a:t>генерація</a:t>
            </a:r>
            <a:r>
              <a:rPr lang="en-US" sz="1050" dirty="0"/>
              <a:t> </a:t>
            </a:r>
            <a:r>
              <a:rPr lang="en-US" sz="1050" dirty="0" err="1"/>
              <a:t>графа</a:t>
            </a:r>
            <a:r>
              <a:rPr lang="en-US" sz="1050" dirty="0"/>
              <a:t> </a:t>
            </a:r>
            <a:r>
              <a:rPr lang="en-US" sz="1050" dirty="0" err="1"/>
              <a:t>LangGraph</a:t>
            </a:r>
            <a:r>
              <a:rPr lang="en-US" sz="1050" dirty="0"/>
              <a:t> </a:t>
            </a:r>
            <a:r>
              <a:rPr lang="en-US" sz="1050" dirty="0" err="1"/>
              <a:t>на</a:t>
            </a:r>
            <a:r>
              <a:rPr lang="en-US" sz="1050" dirty="0"/>
              <a:t> </a:t>
            </a:r>
            <a:r>
              <a:rPr lang="en-US" sz="1050" dirty="0" err="1"/>
              <a:t>основі</a:t>
            </a:r>
            <a:r>
              <a:rPr lang="en-US" sz="1050" dirty="0"/>
              <a:t> </a:t>
            </a:r>
            <a:r>
              <a:rPr lang="en-US" sz="1050" dirty="0" err="1"/>
              <a:t>конфігурації</a:t>
            </a:r>
            <a:r>
              <a:rPr lang="en-US" sz="1050" dirty="0"/>
              <a:t> </a:t>
            </a:r>
            <a:r>
              <a:rPr lang="en-US" sz="1050" dirty="0" err="1"/>
              <a:t>команди</a:t>
            </a:r>
            <a:r>
              <a:rPr lang="en-US" sz="1050" dirty="0"/>
              <a:t> </a:t>
            </a:r>
            <a:r>
              <a:rPr lang="en-US" sz="1050" dirty="0" err="1"/>
              <a:t>та</a:t>
            </a:r>
            <a:r>
              <a:rPr lang="en-US" sz="1050" dirty="0"/>
              <a:t> </a:t>
            </a:r>
            <a:r>
              <a:rPr lang="en-US" sz="1050" dirty="0" err="1"/>
              <a:t>делегування</a:t>
            </a:r>
            <a:r>
              <a:rPr lang="en-US" sz="1050" dirty="0"/>
              <a:t> </a:t>
            </a:r>
            <a:r>
              <a:rPr lang="en-US" sz="1050" dirty="0" err="1"/>
              <a:t>керування</a:t>
            </a:r>
            <a:r>
              <a:rPr lang="en-US" sz="1050" dirty="0"/>
              <a:t> </a:t>
            </a:r>
            <a:r>
              <a:rPr lang="en-US" sz="1050" dirty="0" err="1"/>
              <a:t>агенту-координатору</a:t>
            </a:r>
            <a:r>
              <a:rPr lang="en-US" sz="1050" dirty="0"/>
              <a:t>.</a:t>
            </a:r>
          </a:p>
        </p:txBody>
      </p:sp>
      <p:sp>
        <p:nvSpPr>
          <p:cNvPr id="18" name="Shape 16"/>
          <p:cNvSpPr/>
          <p:nvPr/>
        </p:nvSpPr>
        <p:spPr>
          <a:xfrm>
            <a:off x="4663440" y="1627632"/>
            <a:ext cx="1897380" cy="3154680"/>
          </a:xfrm>
          <a:prstGeom prst="roundRect">
            <a:avLst>
              <a:gd name="adj" fmla="val 385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5319522" y="1847088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319522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09744" y="2560320"/>
            <a:ext cx="16047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АСИНХРОННО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09744" y="2816352"/>
            <a:ext cx="16047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Стрімінг подій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28031" y="3364992"/>
            <a:ext cx="1604771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050" dirty="0" err="1"/>
              <a:t>Трансляція</a:t>
            </a:r>
            <a:r>
              <a:rPr lang="en-US" sz="1050" dirty="0"/>
              <a:t> </a:t>
            </a:r>
            <a:r>
              <a:rPr lang="en-US" sz="1050" dirty="0" err="1"/>
              <a:t>кроків</a:t>
            </a:r>
            <a:r>
              <a:rPr lang="en-US" sz="1050" dirty="0"/>
              <a:t> </a:t>
            </a:r>
            <a:r>
              <a:rPr lang="en-US" sz="1050" dirty="0" err="1"/>
              <a:t>виконання</a:t>
            </a:r>
            <a:r>
              <a:rPr lang="en-US" sz="1050" dirty="0"/>
              <a:t> (</a:t>
            </a:r>
            <a:r>
              <a:rPr lang="en-US" sz="1050" dirty="0" err="1"/>
              <a:t>маршрутизація</a:t>
            </a:r>
            <a:r>
              <a:rPr lang="en-US" sz="1050" dirty="0"/>
              <a:t>, </a:t>
            </a:r>
            <a:r>
              <a:rPr lang="en-US" sz="1050" dirty="0" err="1"/>
              <a:t>виклик</a:t>
            </a:r>
            <a:r>
              <a:rPr lang="en-US" sz="1050" dirty="0"/>
              <a:t> </a:t>
            </a:r>
            <a:r>
              <a:rPr lang="en-US" sz="1050" dirty="0" err="1"/>
              <a:t>інструментів</a:t>
            </a:r>
            <a:r>
              <a:rPr lang="en-US" sz="1050" dirty="0"/>
              <a:t>, </a:t>
            </a:r>
            <a:r>
              <a:rPr lang="en-US" sz="1050" dirty="0" err="1"/>
              <a:t>дії</a:t>
            </a:r>
            <a:r>
              <a:rPr lang="en-US" sz="1050" dirty="0"/>
              <a:t> </a:t>
            </a:r>
            <a:r>
              <a:rPr lang="en-US" sz="1050" dirty="0" err="1"/>
              <a:t>ReAct-агентів</a:t>
            </a:r>
            <a:r>
              <a:rPr lang="en-US" sz="1050" dirty="0"/>
              <a:t>) у </a:t>
            </a:r>
            <a:r>
              <a:rPr lang="en-US" sz="1050" dirty="0" err="1"/>
              <a:t>доменні</a:t>
            </a:r>
            <a:r>
              <a:rPr lang="en-US" sz="1050" dirty="0"/>
              <a:t> </a:t>
            </a:r>
            <a:r>
              <a:rPr lang="en-US" sz="1050" dirty="0" err="1"/>
              <a:t>події</a:t>
            </a:r>
            <a:r>
              <a:rPr lang="en-US" sz="1050" dirty="0"/>
              <a:t>. </a:t>
            </a:r>
            <a:r>
              <a:rPr lang="en-US" sz="1050" dirty="0" err="1"/>
              <a:t>Публікація</a:t>
            </a:r>
            <a:r>
              <a:rPr lang="en-US" sz="1050" dirty="0"/>
              <a:t> в </a:t>
            </a:r>
            <a:r>
              <a:rPr lang="en-US" sz="1050" dirty="0" err="1"/>
              <a:t>чергу</a:t>
            </a:r>
            <a:r>
              <a:rPr lang="en-US" sz="1050" dirty="0"/>
              <a:t> </a:t>
            </a:r>
            <a:r>
              <a:rPr lang="en-US" sz="1050" dirty="0" err="1"/>
              <a:t>для</a:t>
            </a:r>
            <a:r>
              <a:rPr lang="en-US" sz="1050" dirty="0"/>
              <a:t> </a:t>
            </a:r>
            <a:r>
              <a:rPr lang="en-US" sz="1050" dirty="0" err="1"/>
              <a:t>подальшої</a:t>
            </a:r>
            <a:r>
              <a:rPr lang="en-US" sz="1050" dirty="0"/>
              <a:t> </a:t>
            </a:r>
            <a:r>
              <a:rPr lang="en-US" sz="1050" dirty="0" err="1"/>
              <a:t>ретрансляції</a:t>
            </a:r>
            <a:r>
              <a:rPr lang="en-US" sz="1050" dirty="0"/>
              <a:t> </a:t>
            </a:r>
            <a:r>
              <a:rPr lang="en-US" sz="1050" dirty="0" err="1"/>
              <a:t>клієнту</a:t>
            </a:r>
            <a:r>
              <a:rPr lang="en-US" sz="1050" dirty="0"/>
              <a:t> </a:t>
            </a:r>
            <a:r>
              <a:rPr lang="en-US" sz="1050" dirty="0" err="1"/>
              <a:t>через</a:t>
            </a:r>
            <a:r>
              <a:rPr lang="en-US" sz="1050" dirty="0"/>
              <a:t> WebSocket у </a:t>
            </a:r>
            <a:r>
              <a:rPr lang="en-US" sz="1050" dirty="0" err="1"/>
              <a:t>реальному</a:t>
            </a:r>
            <a:r>
              <a:rPr lang="en-US" sz="1050" dirty="0"/>
              <a:t> </a:t>
            </a:r>
            <a:r>
              <a:rPr lang="en-US" sz="1050" dirty="0" err="1"/>
              <a:t>часі</a:t>
            </a:r>
            <a:r>
              <a:rPr lang="en-US" sz="1050" dirty="0"/>
              <a:t>.</a:t>
            </a:r>
          </a:p>
        </p:txBody>
      </p:sp>
      <p:sp>
        <p:nvSpPr>
          <p:cNvPr id="24" name="Shape 22"/>
          <p:cNvSpPr/>
          <p:nvPr/>
        </p:nvSpPr>
        <p:spPr>
          <a:xfrm>
            <a:off x="6743700" y="1627632"/>
            <a:ext cx="1897380" cy="3154680"/>
          </a:xfrm>
          <a:prstGeom prst="roundRect">
            <a:avLst>
              <a:gd name="adj" fmla="val 3855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399782" y="1847088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399782" y="1847088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890004" y="2560320"/>
            <a:ext cx="16047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ЗАВЕРШЕННЯ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90004" y="2816352"/>
            <a:ext cx="16047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 або типізована помилка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908292" y="3364992"/>
            <a:ext cx="173278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02000"/>
              </a:lnSpc>
            </a:pPr>
            <a:r>
              <a:rPr lang="en-US" sz="1050" dirty="0" err="1"/>
              <a:t>Транзакційна</a:t>
            </a:r>
            <a:r>
              <a:rPr lang="en-US" sz="1050" dirty="0"/>
              <a:t> </a:t>
            </a:r>
            <a:r>
              <a:rPr lang="en-US" sz="1050" dirty="0" err="1"/>
              <a:t>маршрутизація</a:t>
            </a:r>
            <a:r>
              <a:rPr lang="en-US" sz="1050" dirty="0"/>
              <a:t> </a:t>
            </a:r>
            <a:r>
              <a:rPr lang="en-US" sz="1050" dirty="0" err="1"/>
              <a:t>фінального</a:t>
            </a:r>
            <a:r>
              <a:rPr lang="en-US" sz="1050" dirty="0"/>
              <a:t> </a:t>
            </a:r>
            <a:r>
              <a:rPr lang="en-US" sz="1050" dirty="0" err="1"/>
              <a:t>трейсу</a:t>
            </a:r>
            <a:r>
              <a:rPr lang="en-US" sz="1050" dirty="0"/>
              <a:t> </a:t>
            </a:r>
            <a:r>
              <a:rPr lang="en-US" sz="1050" dirty="0" err="1"/>
              <a:t>або</a:t>
            </a:r>
            <a:r>
              <a:rPr lang="en-US" sz="1050" dirty="0"/>
              <a:t> </a:t>
            </a:r>
            <a:r>
              <a:rPr lang="en-US" sz="1050" dirty="0" err="1"/>
              <a:t>машиночитаного</a:t>
            </a:r>
            <a:r>
              <a:rPr lang="en-US" sz="1050" dirty="0"/>
              <a:t> </a:t>
            </a:r>
            <a:r>
              <a:rPr lang="en-US" sz="1050" dirty="0" err="1"/>
              <a:t>коду</a:t>
            </a:r>
            <a:r>
              <a:rPr lang="en-US" sz="1050" dirty="0"/>
              <a:t> </a:t>
            </a:r>
            <a:r>
              <a:rPr lang="en-US" sz="1050" dirty="0" err="1"/>
              <a:t>помилки</a:t>
            </a:r>
            <a:r>
              <a:rPr lang="en-US" sz="1050" dirty="0"/>
              <a:t> у </a:t>
            </a:r>
            <a:r>
              <a:rPr lang="en-US" sz="1050" dirty="0" err="1"/>
              <a:t>відповідні</a:t>
            </a:r>
            <a:r>
              <a:rPr lang="en-US" sz="1050" dirty="0"/>
              <a:t> </a:t>
            </a:r>
            <a:r>
              <a:rPr lang="en-US" sz="1050" dirty="0" err="1"/>
              <a:t>черги</a:t>
            </a:r>
            <a:r>
              <a:rPr lang="en-US" sz="1050" dirty="0"/>
              <a:t>. Manual Ack </a:t>
            </a:r>
            <a:r>
              <a:rPr lang="en-US" sz="1050" dirty="0" err="1"/>
              <a:t>брокеру</a:t>
            </a:r>
            <a:r>
              <a:rPr lang="en-US" sz="1050" dirty="0"/>
              <a:t> </a:t>
            </a:r>
            <a:r>
              <a:rPr lang="en-US" sz="1050" dirty="0" err="1"/>
              <a:t>надсилається</a:t>
            </a:r>
            <a:r>
              <a:rPr lang="en-US" sz="1050" dirty="0"/>
              <a:t> </a:t>
            </a:r>
            <a:r>
              <a:rPr lang="en-US" sz="1050" dirty="0" err="1"/>
              <a:t>виключно</a:t>
            </a:r>
            <a:r>
              <a:rPr lang="en-US" sz="1050" dirty="0"/>
              <a:t> </a:t>
            </a:r>
            <a:r>
              <a:rPr lang="en-US" sz="1050" dirty="0" err="1"/>
              <a:t>після</a:t>
            </a:r>
            <a:r>
              <a:rPr lang="en-US" sz="1050" dirty="0"/>
              <a:t> </a:t>
            </a:r>
            <a:r>
              <a:rPr lang="en-US" sz="1050" dirty="0" err="1"/>
              <a:t>фіксації</a:t>
            </a:r>
            <a:r>
              <a:rPr lang="en-US" sz="1050" dirty="0"/>
              <a:t> </a:t>
            </a:r>
            <a:r>
              <a:rPr lang="en-US" sz="1050" dirty="0" err="1"/>
              <a:t>результату</a:t>
            </a:r>
            <a:r>
              <a:rPr lang="en-US" sz="1050" dirty="0"/>
              <a:t> (</a:t>
            </a:r>
            <a:r>
              <a:rPr lang="en-US" sz="1050" dirty="0" err="1"/>
              <a:t>гарантія</a:t>
            </a:r>
            <a:r>
              <a:rPr lang="en-US" sz="1050" dirty="0"/>
              <a:t> At-Least-Once Delivery).</a:t>
            </a:r>
          </a:p>
        </p:txBody>
      </p:sp>
      <p:sp>
        <p:nvSpPr>
          <p:cNvPr id="30" name="Text 28"/>
          <p:cNvSpPr/>
          <p:nvPr/>
        </p:nvSpPr>
        <p:spPr>
          <a:xfrm>
            <a:off x="2400300" y="19385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4480560" y="19385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560820" y="193852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02920" y="4864608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Патерни взаємодії агентів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агенти працюють разом усередині сесії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2529840" cy="3063240"/>
          </a:xfrm>
          <a:prstGeom prst="roundRect">
            <a:avLst>
              <a:gd name="adj" fmla="val 2892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2376" y="1828800"/>
            <a:ext cx="164592" cy="164592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22376" y="2084832"/>
            <a:ext cx="2090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Supervisor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22376" y="2560320"/>
            <a:ext cx="20909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Централізована маршрутизація зі структурованим виводом. Координатор аналізує стан і обирає наступного агента; невалідний вибір відхиляється — захист від галюцинацій моделі.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07080" y="1600200"/>
            <a:ext cx="2529840" cy="3063240"/>
          </a:xfrm>
          <a:prstGeom prst="roundRect">
            <a:avLst>
              <a:gd name="adj" fmla="val 2892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526536" y="1828800"/>
            <a:ext cx="164592" cy="164592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526536" y="2084832"/>
            <a:ext cx="2090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6536" y="2560320"/>
            <a:ext cx="20909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Цикл «міркування ↔ дія». Агент аналізує накопичений стан, за потреби викликає інструмент (пошук, читання файлу, час) і інтерпретує результат — до готової відповіді.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11240" y="1600200"/>
            <a:ext cx="2529840" cy="3063240"/>
          </a:xfrm>
          <a:prstGeom prst="roundRect">
            <a:avLst>
              <a:gd name="adj" fmla="val 2892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30696" y="1828800"/>
            <a:ext cx="164592" cy="164592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30696" y="2084832"/>
            <a:ext cx="20909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Blackboard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30696" y="2560320"/>
            <a:ext cx="209092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Спільний блокнот команди. Агенти обмінюються структурованими проміжними даними в межах сесії, не вичерпуючи контекстне вікно моделі довгою історією.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Ключові інженерні рішення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4874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2801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Провайдер-незалежна фабрика моделей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554480"/>
            <a:ext cx="3721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або OpenAI-API, вибір задається на рівні агента; новий провайдер = розширення однієї функції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4825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241401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Динамічна побудова графа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58952" y="2688336"/>
            <a:ext cx="3721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build_graph формує «зіркову» топологію під конфігурацію команди — без жодних жорстко закодованих ролей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61645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3547872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Гібридний механізм координації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" y="3822192"/>
            <a:ext cx="3721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детермінована маршрутизація на базі FSM (кінцевих автоматів) та динамічна маршрутизація за допомогою LLM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34874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19472" y="1280160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Захист від зациклення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19472" y="1554480"/>
            <a:ext cx="3721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жорстка верхня межа переходів графа, виведена з конфігурації; при досягненні — типізована помилка, а не тихий збій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63440" y="248259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9472" y="2414016"/>
            <a:ext cx="3721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Запобігання Path Traversal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19472" y="2688336"/>
            <a:ext cx="37216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пісочниця (sandbox) для I/O операцій з жорсткою прив'язкою до робочого каталогу сесії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56616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64608" y="3712464"/>
            <a:ext cx="35753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1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рішення підпорядковані трьом цілям: розширюваність, надійність і безпека прикладного коду сервісу.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Надійність та обробка помилок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Механізми стійкості до збоїв та стабільний контракт з оркестратором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27632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22376" y="1847088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Anti-Corruption Layer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22376" y="2157984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внутрішні події LangGraph перетворюються у стабільні доменні події — решта платформи ізольована від версії бібліотеки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627632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928616" y="1847088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166360" y="1801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Exponential Backoff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928616" y="2157984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втраті брокера інтервал перепідключення подвоюється до верхньої межі; після відновлення споживання триває без втрат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264408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722376" y="3483864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60120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Типізація збоїв та ізоляція помилок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22376" y="37947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маршрутизація типізованих відмов у виділену чергу помилок з машиночитаними кодами (4 черги: запити · події · результати · помилки)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3264408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928616" y="3483864"/>
            <a:ext cx="146304" cy="146304"/>
          </a:xfrm>
          <a:prstGeom prst="roundRect">
            <a:avLst>
              <a:gd name="adj" fmla="val 15625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166360" y="343814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Message Acknowledgement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928616" y="3794760"/>
            <a:ext cx="351129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підтвердження надсилається лише після публікації результату; відмова вузла (Node failure) не призводить до втрати даних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Практичне застосування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704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 конфігурації команди до результату — на прикладі команди «розробник — рецензент»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1856232" cy="2788920"/>
          </a:xfrm>
          <a:prstGeom prst="roundRect">
            <a:avLst>
              <a:gd name="adj" fmla="val 394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156716" y="188366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56716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9224" y="257860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Конфігурація команди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67512" y="3127248"/>
            <a:ext cx="1527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оркестратор задає ролі, системні промпти, інструменти та моделі агентів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624328" y="1645920"/>
            <a:ext cx="1856232" cy="2788920"/>
          </a:xfrm>
          <a:prstGeom prst="roundRect">
            <a:avLst>
              <a:gd name="adj" fmla="val 394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78124" y="188366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78124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770632" y="257860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Запуск сесії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88920" y="3127248"/>
            <a:ext cx="1527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повідомлення із запитом і повним контекстом публікується у вхідну чергу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45736" y="1645920"/>
            <a:ext cx="1856232" cy="2788920"/>
          </a:xfrm>
          <a:prstGeom prst="roundRect">
            <a:avLst>
              <a:gd name="adj" fmla="val 394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399532" y="188366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99532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92040" y="257860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Виконання та стрімінг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10328" y="3127248"/>
            <a:ext cx="1527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вільний екземпляр будує граф, проганяє агентів і публікує події в реальному часі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67144" y="1645920"/>
            <a:ext cx="1856232" cy="2788920"/>
          </a:xfrm>
          <a:prstGeom prst="roundRect">
            <a:avLst>
              <a:gd name="adj" fmla="val 3941"/>
            </a:avLst>
          </a:prstGeom>
          <a:solidFill>
            <a:srgbClr val="F7F9FC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520940" y="1883664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520940" y="1883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013448" y="2578608"/>
            <a:ext cx="1563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13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Результат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31736" y="3127248"/>
            <a:ext cx="15270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0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фінальна відповідь із трейсом — у чергу результатів; збій — з машиночитаним кодом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377440" y="19385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498848" y="19385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620256" y="1938528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Тестування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Стратегія та інструментарій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5049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581912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Мокування LLM-інференсу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58952" y="1856232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заміна недетермінованих викликів моделі тестовими дублерами для стабільного та повторюваного CI/CD-конвеєра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2920" y="258318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58952" y="2514600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Класична тестова піраміда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8952" y="2788920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 — швидкі модульні тести бізнес-логіки, вище — інтеграція з інфраструктурою та наскрізні сценарії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515868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3447288"/>
            <a:ext cx="3904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Testcontainers для інфраструктури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58952" y="3721608"/>
            <a:ext cx="3904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інтеграційний тест піднімає реальний RabbitMQ в ephemeral-контейнері, а не мок — валідація інфраструктурного контракту в справжніх умовах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417320"/>
            <a:ext cx="1005840" cy="502920"/>
          </a:xfrm>
          <a:prstGeom prst="trapezoid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17920" y="14630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Наскрізні (E2E)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тестів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97880" y="2011680"/>
            <a:ext cx="1645920" cy="548640"/>
          </a:xfrm>
          <a:prstGeom prst="trapezoid">
            <a:avLst/>
          </a:prstGeom>
          <a:solidFill>
            <a:srgbClr val="2B3E5C"/>
          </a:solidFill>
          <a:ln w="12700">
            <a:solidFill>
              <a:srgbClr val="2B3E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97880" y="20574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Інтеграційні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22860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тестів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554980" y="2651760"/>
            <a:ext cx="2331720" cy="822960"/>
          </a:xfrm>
          <a:prstGeom prst="trapezoid">
            <a:avLst/>
          </a:prstGeom>
          <a:solidFill>
            <a:srgbClr val="EEFBF8"/>
          </a:solidFill>
          <a:ln w="12700">
            <a:solidFill>
              <a:srgbClr val="EEFB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554980" y="269748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Модульні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554980" y="32004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тестів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35661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тестова піраміда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977640"/>
            <a:ext cx="1185672" cy="777240"/>
          </a:xfrm>
          <a:prstGeom prst="roundRect">
            <a:avLst>
              <a:gd name="adj" fmla="val 9412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4041648"/>
            <a:ext cx="1185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754880" y="4443984"/>
            <a:ext cx="1185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тестів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5144" y="3977640"/>
            <a:ext cx="1185672" cy="777240"/>
          </a:xfrm>
          <a:prstGeom prst="roundRect">
            <a:avLst>
              <a:gd name="adj" fmla="val 9412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105144" y="4041648"/>
            <a:ext cx="1185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6105144" y="4443984"/>
            <a:ext cx="1185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покриття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55408" y="3977640"/>
            <a:ext cx="1185672" cy="777240"/>
          </a:xfrm>
          <a:prstGeom prst="roundRect">
            <a:avLst>
              <a:gd name="adj" fmla="val 9412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455408" y="4041648"/>
            <a:ext cx="1185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~600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55408" y="4443984"/>
            <a:ext cx="11856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стейтментів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Впровадження та розгортання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34874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280160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Мультистадійний Docker-образ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58952" y="1554480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стадії build і runtime розділені; мінімальний фінальний образ, non-root користувач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2208276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2139696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Горизонтальне масштабування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58952" y="2414016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піднімає 2 репліки на спільну чергу — брокер розподіляє round-robin, без координації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306781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58952" y="2999232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12-факторна конфігурація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8952" y="3273552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параметри — у змінних середовища через Pydantic Settings; один образ для всіх середовищ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927348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" y="3858768"/>
            <a:ext cx="4087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на GitHub Actions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58952" y="4133088"/>
            <a:ext cx="40873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тестовий гейт ≥ 70% покриття → збірка й публікація мультиплатформного образу в реєстр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1417320"/>
            <a:ext cx="3611880" cy="2055543"/>
          </a:xfrm>
          <a:prstGeom prst="roundRect">
            <a:avLst>
              <a:gd name="adj" fmla="val 3559"/>
            </a:avLst>
          </a:prstGeom>
          <a:solidFill>
            <a:srgbClr val="FFFFFF"/>
          </a:solidFill>
          <a:ln w="12700">
            <a:solidFill>
              <a:srgbClr val="E3E8F0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0" descr="/home/claude/assets/cic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1508760"/>
            <a:ext cx="3429000" cy="1744647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029200" y="3289983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Actions: Unit &amp; E2E tests → Build Docker image (success)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029200" y="3619167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Тестовий гейт → автоматична збірка та публікація образу в реєстр контейнерів (Docker Hub)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173736" cy="173736"/>
          </a:xfrm>
          <a:prstGeom prst="roundRect">
            <a:avLst>
              <a:gd name="adj" fmla="val 15789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77240" y="365760"/>
            <a:ext cx="7818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22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Підсумки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229600" y="4828032"/>
            <a:ext cx="685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Результати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655064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58952" y="1591056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Реалізовано мікросервіс оркестрації ШІ-агентів у складі платформи AgentForge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2313432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58952" y="2249424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Повна декомпозиція від оркестратора через асинхронний брокер повідомлень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58952" y="2907792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П'ять ключових патернів: Supervisor, ReAct, Blackboard, Anti-Corruption Layer, Exponential Backoff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630168"/>
            <a:ext cx="128016" cy="128016"/>
          </a:xfrm>
          <a:prstGeom prst="roundRect">
            <a:avLst>
              <a:gd name="adj" fmla="val 17857"/>
            </a:avLst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58952" y="3566160"/>
            <a:ext cx="427024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3A4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покриття тестами, контейнеризація та CI/CD з демонстрацією горизонтального масштабування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91840" cy="2907792"/>
          </a:xfrm>
          <a:prstGeom prst="roundRect">
            <a:avLst>
              <a:gd name="adj" fmla="val 2516"/>
            </a:avLst>
          </a:prstGeom>
          <a:solidFill>
            <a:srgbClr val="EEFBF8"/>
          </a:solidFill>
          <a:ln w="12700">
            <a:solidFill>
              <a:srgbClr val="CDEAE4"/>
            </a:solidFill>
            <a:prstDash val="solid"/>
          </a:ln>
          <a:effectLst>
            <a:outerShdw blurRad="88900" dist="25400" dir="5400000" algn="bl" rotWithShape="0">
              <a:srgbClr val="9AA6B4">
                <a:alpha val="30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59552" y="1572768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ПЕРСПЕКТИВИ РОЗВИТКУ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559552" y="201168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42432" y="192938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Kubernetes як цільове промислове середовище з автомасштабуванням за довжиною черги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559552" y="256032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742432" y="247802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 інстансів Ollama на кількох GPU для масштабування шару інференсу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59552" y="310896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742432" y="302666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Спостережуваність: метрики Prometheus та наскрізне трасування OpenTelemetry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559552" y="3657600"/>
            <a:ext cx="91440" cy="914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742432" y="3575304"/>
            <a:ext cx="2697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80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Нові інструменти агентів: векторні сховища, SQL-запити, генерація діаграм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4343400"/>
            <a:ext cx="4526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Дякую за увагу!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2586</Words>
  <Application>Microsoft Office PowerPoint</Application>
  <PresentationFormat>On-screen Show (16:9)</PresentationFormat>
  <Paragraphs>262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PptxGenJS Presentation</dc:subject>
  <dc:creator/>
  <cp:lastModifiedBy>Sasha Shelekhan</cp:lastModifiedBy>
  <cp:revision>3</cp:revision>
  <dcterms:created xsi:type="dcterms:W3CDTF">2026-07-08T14:20:43Z</dcterms:created>
  <dcterms:modified xsi:type="dcterms:W3CDTF">2026-07-08T21:29:49Z</dcterms:modified>
</cp:coreProperties>
</file>