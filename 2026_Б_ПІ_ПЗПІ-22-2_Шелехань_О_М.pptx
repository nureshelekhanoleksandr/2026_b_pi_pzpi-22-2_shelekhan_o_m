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66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82" y="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6189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Вітаю, мене звати Олександр Шелехань. Тема моєї кваліфікаційної роботи — інтелектуальна платформа мультиагентної взаємодії AgentForge для створення програмних проєктів. Мій особистий внесок — виконавчий сервіс, який власне і виконує мультиагентні сесії. Далі коротко про мету, технології, архітектуру, і головне — як воно працює та як застосовується.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Мета роботи — спроєктувати й реалізувати виконавчий сервіс, який виконує мультиагентні сесії. Три речі відрізняють його від типового рішення: граф агентів будується динамічно під конфігурацію кожної сесії; хід виконання стрімиться в реальному часі; і вся інтеграція з платформою йде тільки через брокер повідомлень, що дає розподілене виконання.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проаналізував популярні фреймворки — CrewAI, AutoGen, MetaGPT. Усі вони потужні, але це монолітні бібліотеки для одного процесу: немає розподіленого розгортання, немає стрімінгу проміжних подій через брокер, немає машиночитаних кодів помилок. Звідси висновок — потрібен окремий stateless-виконавець, інтегрований через брокер, з динамічною маршрутизацією і стрімінгом.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Виконавчий сервіс — це stateless-мікросервіс з чотирма ключовими властивостями. Перше — stateless-архітектура: він не зберігає внутрішнього стану між сесіями, тому масштабується горизонтально просто додаванням реплік. Друге — асинхронне споживання завдань з черги RabbitMQ у режимі «одна активна сесія на екземпляр». Третє — граф агентів LangGraph компілюється динамічно під конфігурацію команди. Четверте — усі проміжні події й результати стрімляться назад у чергу. На діаграмі видно контекст: воркер отримує задачі з брокера і публікує результат, звертається до LLM-провайдера через Ollama, і в межах сесії реалізує Supervisor-архітектуру, ролі агентів, виконання підзадач і синтез фінальної відповіді.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 сервісу: Python 3.11 як мова. LangGraph — основа: він дає граф станів агентів з умовними переходами і містить ReAct як готовий примітив. LangChain Core — адаптери моделей та інструменти. Pydantic — валідація всіх контрактів. pika — клієнт RabbitMQ. structlog — структуровані JSON-логи. Docker для пакування. І моделі — локальні через Ollama або зовнішні через OpenAI-сумісне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Платформа має чотири рівні — клієнтський, шлюзовий, серверний та інфраструктурний. Принципове рішення: оркестратор і виконавчий сервіс не мають прямої мережевої залежності — вся взаємодія через RabbitMQ. Це дозволяє розвивати й масштабувати їх незалежно і брати найдоречнішу технологію: .NET для сервера застосунків, Python для ШІ. На діаграмі виконавчий сервіс виділено — це предмет моєї роботи; він знаходиться на серверному рівні поряд з оркестратором.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Внутрішньо сервіс безпам'ятний і поділений на три рівні. Верхній — обмін повідомленнями: адаптер брокера і публікатор подій, тут зосереджена вся мережева логіка. Середній — виконання: координатор сесії, будівник графа LangGraph, виконавець агентів і перетворювач подій, який працює як Anti-Corruption Layer між внутрішнім представленням фреймворку та стабільним доменним контрактом. Нижній — рівень абстракцій: реєстр інструментів агентів і провайдер-незалежна фабрика моделей. У реєстрі п'ять інструментів: web_search — пошук в інтернеті, read_file — читання файлу в межах робочого каталогу сесії, current_time — поточний час, і пара write_scratchpad / read_scratchpad — запис і читання спільної дошки команди. Сам реєстр — це словник «ім'я інструмента → фабрика», тому новий інструмент додається однією фабричною функцією, без змін у коді вузлів агентів. Такий поділ дає єдину відповідальність і легке тестування логіки в ізоляції від інфраструктури.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Життєвий цикл сесії поділений на дві фази — синхронну та асинхронну. Синхронно: клієнт через API Gateway надсилає запит оркестратору, той валідує, фіксує в БД і публікує у вхідну чергу — клієнту одразу повертається успіх. Далі асинхронно: вільний екземпляр воркера бере сесію, будує граф LangGraph під конфігурацію команди і передає керування Supervisor-у. Третій етап — стрімінг: кожна значуща подія публікується в чергу і одразу ретранслюється клієнту через WebSocket. Завершення — фінальна відповідь із повним трейсом або типізована помилка з машиночитаним кодом. Ключова гарантія: підтвердження брокеру надсилається лише після публікації, тому втрата екземпляра означає повторну обробку іншим воркером, а не втрату сесії.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властивість сервісу — граф не захардкоджений. У повідомленні сесії приходить конфігурація команди: ролі, системні промпти, набір інструментів і модель для кожного агента. Метод build_graph компілює з цієї конфігурації граф станів LangGraph: у центрі вузол координатора, навколо — вузли агентів, тобто зіркова топологія. Далі всередині сесії: координатор отримує керування, умовним переходом обирає наступного агента, агент відпрацьовує свій цикл ReAct і повертає керування назад координаторові. Обмін проміжними артефактами між агентами йде через спільну дошку — blackboard. Це сховище «ключ-значення», яке живе рівно стільки, скільки триває сесія, і знищується разом з нею; потрібне воно, щоб не гнати великі проміжні результати через історію повідомлень і не вичерпувати контекстне вікно моделі. Коли координатор вважає задачу виконаною — перехід на END і публікація результату. Захист від зациклення: верхня межа переходів графа виводиться з конфігурації, і при її перевищенні сесія завершується типізованою помилкою, а не крутиться нескінченно. На слайді — приклад команди «розробник — рецензент»: інша конфігурація дає інший граф, без жодних змін у коді сервісу.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патерни організують роботу команди. Supervisor — централізована маршрутизація: координатор зі структурованим виводом обирає наступного агента, а невалідний вибір відхиляється валідатором, що захищає від галюцинацій моделі. Кожен агент працює за циклом ReAct — почергово міркує і діє, викликаючи інструменти. Blackboard — спільна дошка команди: це сховище «ключ-значення» у стані сесії, агенти пишуть у нього проміжні артефакти інструментом write_scratchpad і читають інструментом read_scratchpad. Дошка існує в пам'яті рівно стільки, скільки живе сесія, і знищується разом з нею — постійного зберігання немає. Це дозволяє передавати між агентами великі проміжні результати, не роздуваючи історію повідомлень і не вичерпуючи контекстне вікно моделі.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Ключові інженерні рішення. Перше — реєстр інструментів: словник «ім'я → фабрика», агент отримує лише ті інструменти, які задекларовані в його конфігурації. Доступні пошук в інтернеті, читання файлу, поточний час і пара інструментів спільної дошки. Новий інструмент — це нова фабрична функція в реєстрі, без змін у коді вузлів агентів. Друге — провайдер-незалежна фабрика моделей: сервіс працює і з локальним Ollama, і з зовнішнім OpenAI-сумісним API, причому провайдер і модель задаються на рівні кожного агента — координаторові можна дати потужнішу модель, рутинним агентам легшу. Третє — гібридний механізм координації: детермінована маршрутизація на базі кінцевого автомата плюс динамічна маршрутизація мовною моделлю; детермінований режим типовий, бо слабкі локальні моделі в ролі судді майже завжди завершують сесію передчасно. Четверте — безпека: інструмент читання файлів працює в пісочниці, шлях резолвиться відносно робочого каталогу сесії, а вихід за його межі блокується.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Надійність. Anti-Corruption Layer — це перетворювач подій. Під час виконання LangGraph генерує потік власних внутрішніх подій: старт ланцюжка, старт і завершення виклику інструмента, завершення вузла — зі своєю таксономією і купою технічних деталей. Оркестратор і веб-клієнт цього формату не знають і не повинні знати: вони чекають подій з бізнес-семантикою — координатор обрав агента, агент викликав інструмент, крок завершено. Перетворювач класифікує кожну подію фреймворку за її типом і назвою вузла та формує з неї доменну подію нашого контракту, а паралельно акумулює стан сесії — кількість ітерацій, використані інструменти, фінальний вихід, — з якого потім складається повний трейс виконання. Практичний ефект: оновлення бібліотеки зачіпає лише цей модуль, а контракт платформи залишається незмінним. Exponential Backoff: при втраті брокера інтервал перепідключення подвоюється до верхньої межі, після відновлення споживання триває без втрат. Помилки типізуються машиночитаними кодами й маршрутизуються в окрему чергу помилок. І семантика ack-after-publish: підтвердження брокеру надсилається лише після публікації результату, тому аварія екземпляра означає повторну доставку сесії іншому воркеру, а не її втрату.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Тестування. Головний виклик — недетермінованість LLM, тому в тестах виклики моделі мокуються дублерами: конвеєр стабільний, швидкий і повторюваний. Стратегія — класична тестова піраміда: основа — швидкі модульні тести бізнес-логіки, посередині — інтеграція з інфраструктурою, вершина — наскрізні сценарії. Важливий момент зрілості підходу: інфраструктурний шар — RabbitMQ — тестується не моком, а справжнім брокером у ephemeral-контейнері через testcontainers. Це валідує реальний інфраструктурний контракт. У підсумку: 28 автоматизованих тестів (24 модульних, 1 інтеграційний, 3 наскрізних), 70% покриття при близько 600 стейтментах.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Впровадження. Docker-образ мультистадійний: стадії build і runtime розділені, фінальний образ мінімальний і виконується під non-root користувачем — це зменшує поверхню атаки. Docker Compose піднімає одразу дві репліки на одну чергу — і це наочно демонструє горизонтальне масштабування без координації: брокер розподіляє запити round-robin, а масштабування — це просто зміна цифри в конфігурації. Конфігурація 12-факторна через змінні середовища. Весь конвеєр автоматизовано на GitHub Actions — на скріншоті видно успішний прогін: спочатку задача Unit &amp; E2E tests з обов'язковим гейтом 70% покриття, після неї — Build Docker image, який публікує мультиплатформний образ у реєстр контейнерів.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Підсумовуючи: реалізовано stateless-мікросервіс оркестрації ШІ-агентів, повністю відокремлений від оркестратора через асинхронний брокер повідомлень. Взаємодію агентів побудовано на трьох патернах — Supervisor, ReAct і Blackboard, — а стійкість сервісу забезпечують Anti-Corruption Layer, exponential backoff і підтвердження після публікації результату. Досягнуто 70% покриття тестами, налаштовано контейнеризацію та CI/CD з демонстрацією горизонтального масштабування. Напрями розвитку — перехід на Kubernetes з автомасштабуванням за довжиною черги, пул моделей на кількох GPU, спостережуваність через Prometheus і OpenTelemetry та нові інструменти агентів. Дякую за увагу,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Харківський національний університет радіоелектроніки  ·  Кафедра програмної інженерії</a:t>
            </a:r>
            <a:endParaRPr lang="en-US" sz="1200" noProof="1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КВАЛІФІКАЦІЙНА РОБОТА БАКАЛАВРА</a:t>
            </a:r>
            <a:endParaRPr lang="en-US" sz="1200" noProof="1"/>
          </a:p>
        </p:txBody>
      </p:sp>
      <p:sp>
        <p:nvSpPr>
          <p:cNvPr id="4" name="Text 2"/>
          <p:cNvSpPr/>
          <p:nvPr/>
        </p:nvSpPr>
        <p:spPr>
          <a:xfrm>
            <a:off x="502920" y="1335024"/>
            <a:ext cx="5394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7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Інтелектуальна платформа мультиагентної взаємодії для створення програмних проєктів</a:t>
            </a:r>
            <a:endParaRPr lang="en-US" sz="2700" noProof="1"/>
          </a:p>
        </p:txBody>
      </p:sp>
      <p:sp>
        <p:nvSpPr>
          <p:cNvPr id="5" name="Text 3"/>
          <p:cNvSpPr/>
          <p:nvPr/>
        </p:nvSpPr>
        <p:spPr>
          <a:xfrm>
            <a:off x="502920" y="31638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noProof="1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Конфігурація та взаємодія агентів</a:t>
            </a:r>
            <a:endParaRPr lang="en-US" sz="1600" noProof="1"/>
          </a:p>
        </p:txBody>
      </p:sp>
      <p:sp>
        <p:nvSpPr>
          <p:cNvPr id="6" name="Text 4"/>
          <p:cNvSpPr/>
          <p:nvPr/>
        </p:nvSpPr>
        <p:spPr>
          <a:xfrm>
            <a:off x="502920" y="36393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Мікросервіс оркестрації ШІ-агентів</a:t>
            </a:r>
            <a:r>
              <a:rPr lang="en-US" sz="12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Python · LangGraph · RabbitMQ · Docker</a:t>
            </a:r>
            <a:endParaRPr lang="en-US" sz="1250" noProof="1"/>
          </a:p>
        </p:txBody>
      </p:sp>
      <p:sp>
        <p:nvSpPr>
          <p:cNvPr id="7" name="Shape 5"/>
          <p:cNvSpPr/>
          <p:nvPr/>
        </p:nvSpPr>
        <p:spPr>
          <a:xfrm>
            <a:off x="502920" y="4133088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713232" y="42245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25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Олександр ШЕЛЕХАНЬ</a:t>
            </a:r>
            <a:r>
              <a:rPr lang="en-US" sz="12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ПЗПІ-22-2</a:t>
            </a:r>
            <a:endParaRPr lang="en-US" sz="1250" noProof="1"/>
          </a:p>
        </p:txBody>
      </p:sp>
      <p:sp>
        <p:nvSpPr>
          <p:cNvPr id="9" name="Text 7"/>
          <p:cNvSpPr/>
          <p:nvPr/>
        </p:nvSpPr>
        <p:spPr>
          <a:xfrm>
            <a:off x="713232" y="45537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 </a:t>
            </a:r>
            <a:r>
              <a:rPr lang="en-US" sz="125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доц. каф. ПІ Віктор КАУК</a:t>
            </a:r>
            <a:r>
              <a:rPr lang="en-US" sz="12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Харків, 2026</a:t>
            </a:r>
            <a:endParaRPr lang="en-US" sz="1250" noProof="1"/>
          </a:p>
        </p:txBody>
      </p:sp>
      <p:sp>
        <p:nvSpPr>
          <p:cNvPr id="10" name="Shape 8"/>
          <p:cNvSpPr/>
          <p:nvPr/>
        </p:nvSpPr>
        <p:spPr>
          <a:xfrm>
            <a:off x="7360920" y="1783080"/>
            <a:ext cx="0" cy="868680"/>
          </a:xfrm>
          <a:prstGeom prst="line">
            <a:avLst/>
          </a:prstGeom>
          <a:noFill/>
          <a:ln w="19050">
            <a:solidFill>
              <a:srgbClr val="C4D0DC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1" name="Shape 9"/>
          <p:cNvSpPr/>
          <p:nvPr/>
        </p:nvSpPr>
        <p:spPr>
          <a:xfrm>
            <a:off x="7360920" y="2651760"/>
            <a:ext cx="0" cy="868680"/>
          </a:xfrm>
          <a:prstGeom prst="line">
            <a:avLst/>
          </a:prstGeom>
          <a:noFill/>
          <a:ln w="19050">
            <a:solidFill>
              <a:srgbClr val="C4D0DC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2" name="Shape 10"/>
          <p:cNvSpPr/>
          <p:nvPr/>
        </p:nvSpPr>
        <p:spPr>
          <a:xfrm>
            <a:off x="6492240" y="2651760"/>
            <a:ext cx="868680" cy="0"/>
          </a:xfrm>
          <a:prstGeom prst="line">
            <a:avLst/>
          </a:prstGeom>
          <a:noFill/>
          <a:ln w="19050">
            <a:solidFill>
              <a:srgbClr val="C4D0DC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3" name="Shape 11"/>
          <p:cNvSpPr/>
          <p:nvPr/>
        </p:nvSpPr>
        <p:spPr>
          <a:xfrm>
            <a:off x="7360920" y="2651760"/>
            <a:ext cx="868680" cy="0"/>
          </a:xfrm>
          <a:prstGeom prst="line">
            <a:avLst/>
          </a:prstGeom>
          <a:noFill/>
          <a:ln w="19050">
            <a:solidFill>
              <a:srgbClr val="C4D0DC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4" name="Shape 12"/>
          <p:cNvSpPr/>
          <p:nvPr/>
        </p:nvSpPr>
        <p:spPr>
          <a:xfrm>
            <a:off x="7141464" y="1563624"/>
            <a:ext cx="438912" cy="438912"/>
          </a:xfrm>
          <a:prstGeom prst="ellipse">
            <a:avLst/>
          </a:prstGeom>
          <a:solidFill>
            <a:srgbClr val="2B3E5C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5" name="Shape 13"/>
          <p:cNvSpPr/>
          <p:nvPr/>
        </p:nvSpPr>
        <p:spPr>
          <a:xfrm>
            <a:off x="8010144" y="2432304"/>
            <a:ext cx="438912" cy="438912"/>
          </a:xfrm>
          <a:prstGeom prst="ellipse">
            <a:avLst/>
          </a:prstGeom>
          <a:solidFill>
            <a:srgbClr val="2B3E5C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6" name="Shape 14"/>
          <p:cNvSpPr/>
          <p:nvPr/>
        </p:nvSpPr>
        <p:spPr>
          <a:xfrm>
            <a:off x="7141464" y="3300984"/>
            <a:ext cx="438912" cy="438912"/>
          </a:xfrm>
          <a:prstGeom prst="ellipse">
            <a:avLst/>
          </a:prstGeom>
          <a:solidFill>
            <a:srgbClr val="2B3E5C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7" name="Shape 15"/>
          <p:cNvSpPr/>
          <p:nvPr/>
        </p:nvSpPr>
        <p:spPr>
          <a:xfrm>
            <a:off x="6272784" y="2432304"/>
            <a:ext cx="438912" cy="438912"/>
          </a:xfrm>
          <a:prstGeom prst="ellipse">
            <a:avLst/>
          </a:prstGeom>
          <a:solidFill>
            <a:srgbClr val="2B3E5C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8" name="Shape 16"/>
          <p:cNvSpPr/>
          <p:nvPr/>
        </p:nvSpPr>
        <p:spPr>
          <a:xfrm>
            <a:off x="6976872" y="2267712"/>
            <a:ext cx="768096" cy="768096"/>
          </a:xfrm>
          <a:prstGeom prst="ellipse">
            <a:avLst/>
          </a:prstGeom>
          <a:solidFill>
            <a:srgbClr val="0D9488"/>
          </a:solidFill>
          <a:ln w="31750">
            <a:solidFill>
              <a:srgbClr val="FFFFFF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9" name="Text 17"/>
          <p:cNvSpPr/>
          <p:nvPr/>
        </p:nvSpPr>
        <p:spPr>
          <a:xfrm>
            <a:off x="6976872" y="226771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200" noProof="1"/>
          </a:p>
        </p:txBody>
      </p:sp>
      <p:sp>
        <p:nvSpPr>
          <p:cNvPr id="20" name="Text 18"/>
          <p:cNvSpPr/>
          <p:nvPr/>
        </p:nvSpPr>
        <p:spPr>
          <a:xfrm>
            <a:off x="5943600" y="3977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+ команда агентів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роботи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noProof="1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8138160" cy="1234440"/>
          </a:xfrm>
          <a:prstGeom prst="roundRect">
            <a:avLst>
              <a:gd name="adj" fmla="val 5926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6" name="Text 4"/>
          <p:cNvSpPr/>
          <p:nvPr/>
        </p:nvSpPr>
        <p:spPr>
          <a:xfrm>
            <a:off x="777240" y="1536192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Спроєктувати та реалізувати координацію ШІ-агентів у складі платформи AgentForge, що виконує сесії команди агентів, динамічно будує граф взаємодії за зовнішньою конфігурацією та стрімить проміжні події у реальному часі.</a:t>
            </a:r>
            <a:endParaRPr lang="en-US" sz="1700" noProof="1"/>
          </a:p>
        </p:txBody>
      </p:sp>
      <p:sp>
        <p:nvSpPr>
          <p:cNvPr id="7" name="Text 5"/>
          <p:cNvSpPr/>
          <p:nvPr/>
        </p:nvSpPr>
        <p:spPr>
          <a:xfrm>
            <a:off x="502920" y="292608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властивості, що визначають сервіс</a:t>
            </a:r>
            <a:endParaRPr lang="en-US" sz="1200" noProof="1"/>
          </a:p>
        </p:txBody>
      </p:sp>
      <p:sp>
        <p:nvSpPr>
          <p:cNvPr id="8" name="Shape 6"/>
          <p:cNvSpPr/>
          <p:nvPr/>
        </p:nvSpPr>
        <p:spPr>
          <a:xfrm>
            <a:off x="502920" y="3310128"/>
            <a:ext cx="2529840" cy="141732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9" name="Shape 7"/>
          <p:cNvSpPr/>
          <p:nvPr/>
        </p:nvSpPr>
        <p:spPr>
          <a:xfrm>
            <a:off x="704088" y="3511296"/>
            <a:ext cx="146304" cy="146304"/>
          </a:xfrm>
          <a:prstGeom prst="roundRect">
            <a:avLst>
              <a:gd name="adj" fmla="val 15625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0" name="Text 8"/>
          <p:cNvSpPr/>
          <p:nvPr/>
        </p:nvSpPr>
        <p:spPr>
          <a:xfrm>
            <a:off x="704088" y="3730752"/>
            <a:ext cx="2127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Динамічний граф</a:t>
            </a:r>
            <a:endParaRPr lang="en-US" sz="1400" noProof="1"/>
          </a:p>
        </p:txBody>
      </p:sp>
      <p:sp>
        <p:nvSpPr>
          <p:cNvPr id="11" name="Text 9"/>
          <p:cNvSpPr/>
          <p:nvPr/>
        </p:nvSpPr>
        <p:spPr>
          <a:xfrm>
            <a:off x="704088" y="4023360"/>
            <a:ext cx="2127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агентів будується «на льоту» під кожну сесію — без жорстко закодованих ролей</a:t>
            </a:r>
            <a:endParaRPr lang="en-US" sz="1200" noProof="1"/>
          </a:p>
        </p:txBody>
      </p:sp>
      <p:sp>
        <p:nvSpPr>
          <p:cNvPr id="12" name="Shape 10"/>
          <p:cNvSpPr/>
          <p:nvPr/>
        </p:nvSpPr>
        <p:spPr>
          <a:xfrm>
            <a:off x="3307080" y="3310128"/>
            <a:ext cx="2529840" cy="141732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3" name="Shape 11"/>
          <p:cNvSpPr/>
          <p:nvPr/>
        </p:nvSpPr>
        <p:spPr>
          <a:xfrm>
            <a:off x="3508248" y="3511296"/>
            <a:ext cx="146304" cy="146304"/>
          </a:xfrm>
          <a:prstGeom prst="roundRect">
            <a:avLst>
              <a:gd name="adj" fmla="val 15625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4" name="Text 12"/>
          <p:cNvSpPr/>
          <p:nvPr/>
        </p:nvSpPr>
        <p:spPr>
          <a:xfrm>
            <a:off x="3508248" y="3730752"/>
            <a:ext cx="2127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Стрімінг подій</a:t>
            </a:r>
            <a:endParaRPr lang="en-US" sz="1400" noProof="1"/>
          </a:p>
        </p:txBody>
      </p:sp>
      <p:sp>
        <p:nvSpPr>
          <p:cNvPr id="15" name="Text 13"/>
          <p:cNvSpPr/>
          <p:nvPr/>
        </p:nvSpPr>
        <p:spPr>
          <a:xfrm>
            <a:off x="3508248" y="4023360"/>
            <a:ext cx="2127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хід виконання публікується в реальному часі, а не лише фінальна відповідь</a:t>
            </a:r>
            <a:endParaRPr lang="en-US" sz="1200" noProof="1"/>
          </a:p>
        </p:txBody>
      </p:sp>
      <p:sp>
        <p:nvSpPr>
          <p:cNvPr id="16" name="Shape 14"/>
          <p:cNvSpPr/>
          <p:nvPr/>
        </p:nvSpPr>
        <p:spPr>
          <a:xfrm>
            <a:off x="6111240" y="3310128"/>
            <a:ext cx="2529840" cy="141732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7" name="Shape 15"/>
          <p:cNvSpPr/>
          <p:nvPr/>
        </p:nvSpPr>
        <p:spPr>
          <a:xfrm>
            <a:off x="6312408" y="3511296"/>
            <a:ext cx="146304" cy="146304"/>
          </a:xfrm>
          <a:prstGeom prst="roundRect">
            <a:avLst>
              <a:gd name="adj" fmla="val 15625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8" name="Text 16"/>
          <p:cNvSpPr/>
          <p:nvPr/>
        </p:nvSpPr>
        <p:spPr>
          <a:xfrm>
            <a:off x="6312408" y="3730752"/>
            <a:ext cx="2127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Розподілене виконання</a:t>
            </a:r>
            <a:endParaRPr lang="en-US" sz="1400" noProof="1"/>
          </a:p>
        </p:txBody>
      </p:sp>
      <p:sp>
        <p:nvSpPr>
          <p:cNvPr id="19" name="Text 17"/>
          <p:cNvSpPr/>
          <p:nvPr/>
        </p:nvSpPr>
        <p:spPr>
          <a:xfrm>
            <a:off x="6312408" y="4023360"/>
            <a:ext cx="2127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інтеграція з платформою виключно через брокер повідомлень</a:t>
            </a:r>
            <a:endParaRPr lang="en-US" sz="12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Аналіз існуючих рішень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noProof="1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Популярні мультиагентні фреймворки — це монолітні бібліотеки, розраховані на один процес</a:t>
            </a:r>
            <a:endParaRPr lang="en-US" sz="1300" noProof="1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2529840" cy="2331720"/>
          </a:xfrm>
          <a:prstGeom prst="roundRect">
            <a:avLst>
              <a:gd name="adj" fmla="val 3137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7" name="Text 5"/>
          <p:cNvSpPr/>
          <p:nvPr/>
        </p:nvSpPr>
        <p:spPr>
          <a:xfrm>
            <a:off x="704088" y="1810512"/>
            <a:ext cx="2127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CrewAI</a:t>
            </a:r>
            <a:endParaRPr lang="en-US" sz="1700" noProof="1"/>
          </a:p>
        </p:txBody>
      </p:sp>
      <p:sp>
        <p:nvSpPr>
          <p:cNvPr id="8" name="Text 6"/>
          <p:cNvSpPr/>
          <p:nvPr/>
        </p:nvSpPr>
        <p:spPr>
          <a:xfrm>
            <a:off x="704088" y="2194560"/>
            <a:ext cx="2127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200" i="1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Оркестрація ролей у межах одного застосунку</a:t>
            </a:r>
            <a:endParaRPr lang="en-US" sz="1200" noProof="1"/>
          </a:p>
        </p:txBody>
      </p:sp>
      <p:sp>
        <p:nvSpPr>
          <p:cNvPr id="9" name="Text 7"/>
          <p:cNvSpPr/>
          <p:nvPr/>
        </p:nvSpPr>
        <p:spPr>
          <a:xfrm>
            <a:off x="704088" y="2798064"/>
            <a:ext cx="2127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noProof="1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Обмеження</a:t>
            </a:r>
            <a:endParaRPr lang="en-US" sz="1100" noProof="1"/>
          </a:p>
        </p:txBody>
      </p:sp>
      <p:sp>
        <p:nvSpPr>
          <p:cNvPr id="10" name="Text 8"/>
          <p:cNvSpPr/>
          <p:nvPr/>
        </p:nvSpPr>
        <p:spPr>
          <a:xfrm>
            <a:off x="704088" y="3035808"/>
            <a:ext cx="2127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розподіленого розгортання та стрімінгу проміжних подій через брокер</a:t>
            </a:r>
            <a:endParaRPr lang="en-US" sz="1200" noProof="1"/>
          </a:p>
        </p:txBody>
      </p:sp>
      <p:sp>
        <p:nvSpPr>
          <p:cNvPr id="11" name="Shape 9"/>
          <p:cNvSpPr/>
          <p:nvPr/>
        </p:nvSpPr>
        <p:spPr>
          <a:xfrm>
            <a:off x="3307080" y="1627632"/>
            <a:ext cx="2529840" cy="2331720"/>
          </a:xfrm>
          <a:prstGeom prst="roundRect">
            <a:avLst>
              <a:gd name="adj" fmla="val 3137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2" name="Text 10"/>
          <p:cNvSpPr/>
          <p:nvPr/>
        </p:nvSpPr>
        <p:spPr>
          <a:xfrm>
            <a:off x="3508248" y="1810512"/>
            <a:ext cx="2127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AutoGen</a:t>
            </a:r>
            <a:endParaRPr lang="en-US" sz="1700" noProof="1"/>
          </a:p>
        </p:txBody>
      </p:sp>
      <p:sp>
        <p:nvSpPr>
          <p:cNvPr id="13" name="Text 11"/>
          <p:cNvSpPr/>
          <p:nvPr/>
        </p:nvSpPr>
        <p:spPr>
          <a:xfrm>
            <a:off x="3508248" y="2194560"/>
            <a:ext cx="2127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200" i="1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Бібліотека для діалогу кількох агентів</a:t>
            </a:r>
            <a:endParaRPr lang="en-US" sz="1200" noProof="1"/>
          </a:p>
        </p:txBody>
      </p:sp>
      <p:sp>
        <p:nvSpPr>
          <p:cNvPr id="14" name="Text 12"/>
          <p:cNvSpPr/>
          <p:nvPr/>
        </p:nvSpPr>
        <p:spPr>
          <a:xfrm>
            <a:off x="3508248" y="2798064"/>
            <a:ext cx="2127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noProof="1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Обмеження</a:t>
            </a:r>
            <a:endParaRPr lang="en-US" sz="1100" noProof="1"/>
          </a:p>
        </p:txBody>
      </p:sp>
      <p:sp>
        <p:nvSpPr>
          <p:cNvPr id="15" name="Text 13"/>
          <p:cNvSpPr/>
          <p:nvPr/>
        </p:nvSpPr>
        <p:spPr>
          <a:xfrm>
            <a:off x="3508248" y="3035808"/>
            <a:ext cx="2127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Динаміка обмежена процесом; немає брокера як єдиного інтерфейсу та кодів помилок</a:t>
            </a:r>
            <a:endParaRPr lang="en-US" sz="1200" noProof="1"/>
          </a:p>
        </p:txBody>
      </p:sp>
      <p:sp>
        <p:nvSpPr>
          <p:cNvPr id="16" name="Shape 14"/>
          <p:cNvSpPr/>
          <p:nvPr/>
        </p:nvSpPr>
        <p:spPr>
          <a:xfrm>
            <a:off x="6111240" y="1627632"/>
            <a:ext cx="2529840" cy="2331720"/>
          </a:xfrm>
          <a:prstGeom prst="roundRect">
            <a:avLst>
              <a:gd name="adj" fmla="val 3137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7" name="Text 15"/>
          <p:cNvSpPr/>
          <p:nvPr/>
        </p:nvSpPr>
        <p:spPr>
          <a:xfrm>
            <a:off x="6312408" y="1810512"/>
            <a:ext cx="2127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MetaGPT</a:t>
            </a:r>
            <a:endParaRPr lang="en-US" sz="1700" noProof="1"/>
          </a:p>
        </p:txBody>
      </p:sp>
      <p:sp>
        <p:nvSpPr>
          <p:cNvPr id="18" name="Text 16"/>
          <p:cNvSpPr/>
          <p:nvPr/>
        </p:nvSpPr>
        <p:spPr>
          <a:xfrm>
            <a:off x="6312408" y="2194560"/>
            <a:ext cx="2127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200" i="1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Імітація ролей команди розробки</a:t>
            </a:r>
            <a:endParaRPr lang="en-US" sz="1200" noProof="1"/>
          </a:p>
        </p:txBody>
      </p:sp>
      <p:sp>
        <p:nvSpPr>
          <p:cNvPr id="19" name="Text 17"/>
          <p:cNvSpPr/>
          <p:nvPr/>
        </p:nvSpPr>
        <p:spPr>
          <a:xfrm>
            <a:off x="6312408" y="2798064"/>
            <a:ext cx="2127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noProof="1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Обмеження</a:t>
            </a:r>
            <a:endParaRPr lang="en-US" sz="1100" noProof="1"/>
          </a:p>
        </p:txBody>
      </p:sp>
      <p:sp>
        <p:nvSpPr>
          <p:cNvPr id="20" name="Text 18"/>
          <p:cNvSpPr/>
          <p:nvPr/>
        </p:nvSpPr>
        <p:spPr>
          <a:xfrm>
            <a:off x="6312408" y="3035808"/>
            <a:ext cx="2127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Фіксований сценарій; немає динамічної маршрутизації та промислового масштабування</a:t>
            </a:r>
            <a:endParaRPr lang="en-US" sz="1200" noProof="1"/>
          </a:p>
        </p:txBody>
      </p:sp>
      <p:sp>
        <p:nvSpPr>
          <p:cNvPr id="21" name="Shape 19"/>
          <p:cNvSpPr/>
          <p:nvPr/>
        </p:nvSpPr>
        <p:spPr>
          <a:xfrm>
            <a:off x="502920" y="416052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22" name="Text 20"/>
          <p:cNvSpPr/>
          <p:nvPr/>
        </p:nvSpPr>
        <p:spPr>
          <a:xfrm>
            <a:off x="731520" y="4233672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Висновок:  </a:t>
            </a:r>
            <a:r>
              <a:rPr lang="en-US" sz="1250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потрібен окремий stateless-виконавець з інтеграцією через брокер, динамічною маршрутизацією та стрімінгом подій у реальному часі.</a:t>
            </a:r>
            <a:endParaRPr lang="en-US" sz="125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Виконавчий сервіс: роль у платформі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noProof="1"/>
          </a:p>
        </p:txBody>
      </p:sp>
      <p:sp>
        <p:nvSpPr>
          <p:cNvPr id="10" name="Text 10"/>
          <p:cNvSpPr/>
          <p:nvPr/>
        </p:nvSpPr>
        <p:spPr>
          <a:xfrm>
            <a:off x="502920" y="124358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Взаємодія виконавчого сервісу з рештою платформи</a:t>
            </a:r>
            <a:endParaRPr lang="en-US" sz="1300" noProof="1"/>
          </a:p>
        </p:txBody>
      </p:sp>
      <p:sp>
        <p:nvSpPr>
          <p:cNvPr id="11" name="Shape 11"/>
          <p:cNvSpPr/>
          <p:nvPr/>
        </p:nvSpPr>
        <p:spPr>
          <a:xfrm>
            <a:off x="502920" y="1691640"/>
            <a:ext cx="128016" cy="12801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2" name="Text 12"/>
          <p:cNvSpPr/>
          <p:nvPr/>
        </p:nvSpPr>
        <p:spPr>
          <a:xfrm>
            <a:off x="758952" y="1627632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Stateless-обробка</a:t>
            </a:r>
            <a:endParaRPr lang="en-US" sz="1150" noProof="1"/>
          </a:p>
        </p:txBody>
      </p:sp>
      <p:sp>
        <p:nvSpPr>
          <p:cNvPr id="13" name="Text 13"/>
          <p:cNvSpPr/>
          <p:nvPr/>
        </p:nvSpPr>
        <p:spPr>
          <a:xfrm>
            <a:off x="758952" y="19019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жодного стану між сесіями — масштабування реплікацією</a:t>
            </a:r>
            <a:endParaRPr lang="en-US" sz="1000" noProof="1"/>
          </a:p>
        </p:txBody>
      </p:sp>
      <p:sp>
        <p:nvSpPr>
          <p:cNvPr id="14" name="Shape 14"/>
          <p:cNvSpPr/>
          <p:nvPr/>
        </p:nvSpPr>
        <p:spPr>
          <a:xfrm>
            <a:off x="502920" y="2459736"/>
            <a:ext cx="128016" cy="12801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5" name="Text 15"/>
          <p:cNvSpPr/>
          <p:nvPr/>
        </p:nvSpPr>
        <p:spPr>
          <a:xfrm>
            <a:off x="758952" y="2395728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Асинхронні завдання</a:t>
            </a:r>
            <a:endParaRPr lang="en-US" sz="1150" noProof="1"/>
          </a:p>
        </p:txBody>
      </p:sp>
      <p:sp>
        <p:nvSpPr>
          <p:cNvPr id="16" name="Text 16"/>
          <p:cNvSpPr/>
          <p:nvPr/>
        </p:nvSpPr>
        <p:spPr>
          <a:xfrm>
            <a:off x="758952" y="2670048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черга RabbitMQ, одна активна сесія на екземпляр</a:t>
            </a:r>
            <a:endParaRPr lang="en-US" sz="1000" noProof="1"/>
          </a:p>
        </p:txBody>
      </p:sp>
      <p:sp>
        <p:nvSpPr>
          <p:cNvPr id="17" name="Shape 17"/>
          <p:cNvSpPr/>
          <p:nvPr/>
        </p:nvSpPr>
        <p:spPr>
          <a:xfrm>
            <a:off x="502920" y="3227832"/>
            <a:ext cx="128016" cy="12801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8" name="Text 18"/>
          <p:cNvSpPr/>
          <p:nvPr/>
        </p:nvSpPr>
        <p:spPr>
          <a:xfrm>
            <a:off x="758952" y="316382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Динамічний граф</a:t>
            </a:r>
            <a:endParaRPr lang="en-US" sz="1150" noProof="1"/>
          </a:p>
        </p:txBody>
      </p:sp>
      <p:sp>
        <p:nvSpPr>
          <p:cNvPr id="19" name="Text 19"/>
          <p:cNvSpPr/>
          <p:nvPr/>
        </p:nvSpPr>
        <p:spPr>
          <a:xfrm>
            <a:off x="758952" y="3438144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компілюється під конфігурацію команди</a:t>
            </a:r>
            <a:endParaRPr lang="en-US" sz="1000" noProof="1"/>
          </a:p>
        </p:txBody>
      </p:sp>
      <p:sp>
        <p:nvSpPr>
          <p:cNvPr id="20" name="Shape 20"/>
          <p:cNvSpPr/>
          <p:nvPr/>
        </p:nvSpPr>
        <p:spPr>
          <a:xfrm>
            <a:off x="502920" y="3995928"/>
            <a:ext cx="128016" cy="12801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1" name="Text 21"/>
          <p:cNvSpPr/>
          <p:nvPr/>
        </p:nvSpPr>
        <p:spPr>
          <a:xfrm>
            <a:off x="758952" y="393192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подій</a:t>
            </a:r>
            <a:endParaRPr lang="en-US" sz="1150" noProof="1"/>
          </a:p>
        </p:txBody>
      </p:sp>
      <p:sp>
        <p:nvSpPr>
          <p:cNvPr id="22" name="Text 22"/>
          <p:cNvSpPr/>
          <p:nvPr/>
        </p:nvSpPr>
        <p:spPr>
          <a:xfrm>
            <a:off x="758952" y="42062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проміжні події, результат і типізовані помилки — у черги</a:t>
            </a:r>
            <a:endParaRPr lang="en-US" sz="1000" noProof="1"/>
          </a:p>
        </p:txBody>
      </p:sp>
      <p:pic>
        <p:nvPicPr>
          <p:cNvPr id="23" name="Image 0" descr="worker_con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572768"/>
            <a:ext cx="5394960" cy="2990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Технології розробки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noProof="1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виконавчого сервісу</a:t>
            </a:r>
            <a:endParaRPr lang="en-US" sz="1250" noProof="1"/>
          </a:p>
        </p:txBody>
      </p:sp>
      <p:sp>
        <p:nvSpPr>
          <p:cNvPr id="6" name="Shape 4"/>
          <p:cNvSpPr/>
          <p:nvPr/>
        </p:nvSpPr>
        <p:spPr>
          <a:xfrm>
            <a:off x="502920" y="1677924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7" name="Text 5"/>
          <p:cNvSpPr/>
          <p:nvPr/>
        </p:nvSpPr>
        <p:spPr>
          <a:xfrm>
            <a:off x="758952" y="1609344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3.12</a:t>
            </a:r>
            <a:endParaRPr lang="en-US" sz="1350" noProof="1"/>
          </a:p>
        </p:txBody>
      </p:sp>
      <p:sp>
        <p:nvSpPr>
          <p:cNvPr id="8" name="Text 6"/>
          <p:cNvSpPr/>
          <p:nvPr/>
        </p:nvSpPr>
        <p:spPr>
          <a:xfrm>
            <a:off x="758952" y="1883664"/>
            <a:ext cx="3721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 сервісу — зріла екосистема бібліотек штучного інтелекту</a:t>
            </a:r>
            <a:endParaRPr lang="en-US" sz="1200" noProof="1"/>
          </a:p>
        </p:txBody>
      </p:sp>
      <p:sp>
        <p:nvSpPr>
          <p:cNvPr id="9" name="Shape 7"/>
          <p:cNvSpPr/>
          <p:nvPr/>
        </p:nvSpPr>
        <p:spPr>
          <a:xfrm>
            <a:off x="4663440" y="1677924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0" name="Text 8"/>
          <p:cNvSpPr/>
          <p:nvPr/>
        </p:nvSpPr>
        <p:spPr>
          <a:xfrm>
            <a:off x="4919472" y="1609344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LangGraph</a:t>
            </a:r>
            <a:endParaRPr lang="en-US" sz="1350" noProof="1"/>
          </a:p>
        </p:txBody>
      </p:sp>
      <p:sp>
        <p:nvSpPr>
          <p:cNvPr id="11" name="Text 9"/>
          <p:cNvSpPr/>
          <p:nvPr/>
        </p:nvSpPr>
        <p:spPr>
          <a:xfrm>
            <a:off x="4919472" y="1883664"/>
            <a:ext cx="3721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 станів агентів з умовними переходами; ReAct як готовий примітив</a:t>
            </a:r>
            <a:endParaRPr lang="en-US" sz="1200" noProof="1"/>
          </a:p>
        </p:txBody>
      </p:sp>
      <p:sp>
        <p:nvSpPr>
          <p:cNvPr id="12" name="Shape 10"/>
          <p:cNvSpPr/>
          <p:nvPr/>
        </p:nvSpPr>
        <p:spPr>
          <a:xfrm>
            <a:off x="502920" y="2446020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3" name="Text 11"/>
          <p:cNvSpPr/>
          <p:nvPr/>
        </p:nvSpPr>
        <p:spPr>
          <a:xfrm>
            <a:off x="758952" y="237744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LangChain Core</a:t>
            </a:r>
            <a:endParaRPr lang="en-US" sz="1350" noProof="1"/>
          </a:p>
        </p:txBody>
      </p:sp>
      <p:sp>
        <p:nvSpPr>
          <p:cNvPr id="14" name="Text 12"/>
          <p:cNvSpPr/>
          <p:nvPr/>
        </p:nvSpPr>
        <p:spPr>
          <a:xfrm>
            <a:off x="758952" y="2651760"/>
            <a:ext cx="3721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адаптери мовних моделей та інтерфейс інструментів</a:t>
            </a:r>
            <a:endParaRPr lang="en-US" sz="1200" noProof="1"/>
          </a:p>
        </p:txBody>
      </p:sp>
      <p:sp>
        <p:nvSpPr>
          <p:cNvPr id="15" name="Shape 13"/>
          <p:cNvSpPr/>
          <p:nvPr/>
        </p:nvSpPr>
        <p:spPr>
          <a:xfrm>
            <a:off x="4663440" y="2446020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6" name="Text 14"/>
          <p:cNvSpPr/>
          <p:nvPr/>
        </p:nvSpPr>
        <p:spPr>
          <a:xfrm>
            <a:off x="4919472" y="237744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Pydantic</a:t>
            </a:r>
            <a:endParaRPr lang="en-US" sz="1350" noProof="1"/>
          </a:p>
        </p:txBody>
      </p:sp>
      <p:sp>
        <p:nvSpPr>
          <p:cNvPr id="17" name="Text 15"/>
          <p:cNvSpPr/>
          <p:nvPr/>
        </p:nvSpPr>
        <p:spPr>
          <a:xfrm>
            <a:off x="4919472" y="2651760"/>
            <a:ext cx="3721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даних, валідація контрактів і конфігурації</a:t>
            </a:r>
            <a:endParaRPr lang="en-US" sz="1200" noProof="1"/>
          </a:p>
        </p:txBody>
      </p:sp>
      <p:sp>
        <p:nvSpPr>
          <p:cNvPr id="18" name="Shape 16"/>
          <p:cNvSpPr/>
          <p:nvPr/>
        </p:nvSpPr>
        <p:spPr>
          <a:xfrm>
            <a:off x="502920" y="3214116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9" name="Text 17"/>
          <p:cNvSpPr/>
          <p:nvPr/>
        </p:nvSpPr>
        <p:spPr>
          <a:xfrm>
            <a:off x="758952" y="3145536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pika (AMQP)</a:t>
            </a:r>
            <a:endParaRPr lang="en-US" sz="1350" noProof="1"/>
          </a:p>
        </p:txBody>
      </p:sp>
      <p:sp>
        <p:nvSpPr>
          <p:cNvPr id="20" name="Text 18"/>
          <p:cNvSpPr/>
          <p:nvPr/>
        </p:nvSpPr>
        <p:spPr>
          <a:xfrm>
            <a:off x="758952" y="3419856"/>
            <a:ext cx="3721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 брокера повідомлень RabbitMQ</a:t>
            </a:r>
            <a:endParaRPr lang="en-US" sz="1200" noProof="1"/>
          </a:p>
        </p:txBody>
      </p:sp>
      <p:sp>
        <p:nvSpPr>
          <p:cNvPr id="21" name="Shape 19"/>
          <p:cNvSpPr/>
          <p:nvPr/>
        </p:nvSpPr>
        <p:spPr>
          <a:xfrm>
            <a:off x="4663440" y="3214116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2" name="Text 20"/>
          <p:cNvSpPr/>
          <p:nvPr/>
        </p:nvSpPr>
        <p:spPr>
          <a:xfrm>
            <a:off x="4919472" y="3145536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structlog</a:t>
            </a:r>
            <a:endParaRPr lang="en-US" sz="1350" noProof="1"/>
          </a:p>
        </p:txBody>
      </p:sp>
      <p:sp>
        <p:nvSpPr>
          <p:cNvPr id="23" name="Text 21"/>
          <p:cNvSpPr/>
          <p:nvPr/>
        </p:nvSpPr>
        <p:spPr>
          <a:xfrm>
            <a:off x="4919472" y="3419856"/>
            <a:ext cx="3721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структуроване журналювання у форматі JSON</a:t>
            </a:r>
            <a:endParaRPr lang="en-US" sz="1200" noProof="1"/>
          </a:p>
        </p:txBody>
      </p:sp>
      <p:sp>
        <p:nvSpPr>
          <p:cNvPr id="24" name="Shape 22"/>
          <p:cNvSpPr/>
          <p:nvPr/>
        </p:nvSpPr>
        <p:spPr>
          <a:xfrm>
            <a:off x="502920" y="3982212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5" name="Text 23"/>
          <p:cNvSpPr/>
          <p:nvPr/>
        </p:nvSpPr>
        <p:spPr>
          <a:xfrm>
            <a:off x="758952" y="3913632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</a:t>
            </a:r>
            <a:endParaRPr lang="en-US" sz="1350" noProof="1"/>
          </a:p>
        </p:txBody>
      </p:sp>
      <p:sp>
        <p:nvSpPr>
          <p:cNvPr id="26" name="Text 24"/>
          <p:cNvSpPr/>
          <p:nvPr/>
        </p:nvSpPr>
        <p:spPr>
          <a:xfrm>
            <a:off x="758952" y="4187952"/>
            <a:ext cx="3721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контейнеризація; мультистадійний образ, non-root</a:t>
            </a:r>
            <a:endParaRPr lang="en-US" sz="1200" noProof="1"/>
          </a:p>
        </p:txBody>
      </p:sp>
      <p:sp>
        <p:nvSpPr>
          <p:cNvPr id="27" name="Shape 25"/>
          <p:cNvSpPr/>
          <p:nvPr/>
        </p:nvSpPr>
        <p:spPr>
          <a:xfrm>
            <a:off x="4663440" y="3982212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8" name="Text 26"/>
          <p:cNvSpPr/>
          <p:nvPr/>
        </p:nvSpPr>
        <p:spPr>
          <a:xfrm>
            <a:off x="4919472" y="3913632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Ollama / OpenAI-API</a:t>
            </a:r>
            <a:endParaRPr lang="en-US" sz="1350" noProof="1"/>
          </a:p>
        </p:txBody>
      </p:sp>
      <p:sp>
        <p:nvSpPr>
          <p:cNvPr id="29" name="Text 27"/>
          <p:cNvSpPr/>
          <p:nvPr/>
        </p:nvSpPr>
        <p:spPr>
          <a:xfrm>
            <a:off x="4919472" y="4187952"/>
            <a:ext cx="3721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локальні та зовнішні мовні моделі агентів</a:t>
            </a:r>
            <a:endParaRPr lang="en-US" sz="12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Архітектура платформи AgentForge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noProof="1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рівні: клієнтський · шлюзовий · серверний · інфраструктурний</a:t>
            </a:r>
            <a:endParaRPr lang="en-US" sz="1300" noProof="1"/>
          </a:p>
        </p:txBody>
      </p:sp>
      <p:sp>
        <p:nvSpPr>
          <p:cNvPr id="6" name="Shape 4"/>
          <p:cNvSpPr/>
          <p:nvPr/>
        </p:nvSpPr>
        <p:spPr>
          <a:xfrm>
            <a:off x="502920" y="1897380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7" name="Text 5"/>
          <p:cNvSpPr/>
          <p:nvPr/>
        </p:nvSpPr>
        <p:spPr>
          <a:xfrm>
            <a:off x="758952" y="1828800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Дві платформи, одна межа</a:t>
            </a:r>
            <a:endParaRPr lang="en-US" sz="1350" noProof="1"/>
          </a:p>
        </p:txBody>
      </p:sp>
      <p:sp>
        <p:nvSpPr>
          <p:cNvPr id="8" name="Text 6"/>
          <p:cNvSpPr/>
          <p:nvPr/>
        </p:nvSpPr>
        <p:spPr>
          <a:xfrm>
            <a:off x="758952" y="2103120"/>
            <a:ext cx="4361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оркестратор на .NET (REST API, події, БД) і виконавчий сервіс на Python</a:t>
            </a:r>
            <a:endParaRPr lang="en-US" sz="1200" noProof="1"/>
          </a:p>
        </p:txBody>
      </p:sp>
      <p:sp>
        <p:nvSpPr>
          <p:cNvPr id="9" name="Shape 7"/>
          <p:cNvSpPr/>
          <p:nvPr/>
        </p:nvSpPr>
        <p:spPr>
          <a:xfrm>
            <a:off x="502920" y="2647188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0" name="Text 8"/>
          <p:cNvSpPr/>
          <p:nvPr/>
        </p:nvSpPr>
        <p:spPr>
          <a:xfrm>
            <a:off x="758952" y="2578608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Немає прямої залежності</a:t>
            </a:r>
            <a:endParaRPr lang="en-US" sz="1350" noProof="1"/>
          </a:p>
        </p:txBody>
      </p:sp>
      <p:sp>
        <p:nvSpPr>
          <p:cNvPr id="11" name="Text 9"/>
          <p:cNvSpPr/>
          <p:nvPr/>
        </p:nvSpPr>
        <p:spPr>
          <a:xfrm>
            <a:off x="758952" y="2852928"/>
            <a:ext cx="4361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взаємодії — виключно через брокер RabbitMQ, без синхронних викликів</a:t>
            </a:r>
            <a:endParaRPr lang="en-US" sz="1200" noProof="1"/>
          </a:p>
        </p:txBody>
      </p:sp>
      <p:sp>
        <p:nvSpPr>
          <p:cNvPr id="12" name="Shape 10"/>
          <p:cNvSpPr/>
          <p:nvPr/>
        </p:nvSpPr>
        <p:spPr>
          <a:xfrm>
            <a:off x="502920" y="3396996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3" name="Text 11"/>
          <p:cNvSpPr/>
          <p:nvPr/>
        </p:nvSpPr>
        <p:spPr>
          <a:xfrm>
            <a:off x="758952" y="3328416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Незалежний розвиток</a:t>
            </a:r>
            <a:endParaRPr lang="en-US" sz="1350" noProof="1"/>
          </a:p>
        </p:txBody>
      </p:sp>
      <p:sp>
        <p:nvSpPr>
          <p:cNvPr id="14" name="Text 12"/>
          <p:cNvSpPr/>
          <p:nvPr/>
        </p:nvSpPr>
        <p:spPr>
          <a:xfrm>
            <a:off x="758952" y="3602736"/>
            <a:ext cx="4361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компоненти оновлюються й масштабуються окремо, кожен — своєю технологією</a:t>
            </a:r>
            <a:endParaRPr lang="en-US" sz="1200" noProof="1"/>
          </a:p>
        </p:txBody>
      </p:sp>
      <p:sp>
        <p:nvSpPr>
          <p:cNvPr id="15" name="Shape 13"/>
          <p:cNvSpPr/>
          <p:nvPr/>
        </p:nvSpPr>
        <p:spPr>
          <a:xfrm>
            <a:off x="502920" y="4146804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6" name="Text 14"/>
          <p:cNvSpPr/>
          <p:nvPr/>
        </p:nvSpPr>
        <p:spPr>
          <a:xfrm>
            <a:off x="758952" y="407822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Основа сервісу — LangGraph</a:t>
            </a:r>
            <a:endParaRPr lang="en-US" sz="1350" noProof="1"/>
          </a:p>
        </p:txBody>
      </p:sp>
      <p:sp>
        <p:nvSpPr>
          <p:cNvPr id="17" name="Text 15"/>
          <p:cNvSpPr/>
          <p:nvPr/>
        </p:nvSpPr>
        <p:spPr>
          <a:xfrm>
            <a:off x="758952" y="4352544"/>
            <a:ext cx="4361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 станів з умовними переходами та ReAct як примітив агента</a:t>
            </a:r>
            <a:endParaRPr lang="en-US" sz="1200" noProof="1"/>
          </a:p>
        </p:txBody>
      </p:sp>
      <p:sp>
        <p:nvSpPr>
          <p:cNvPr id="18" name="Shape 16"/>
          <p:cNvSpPr/>
          <p:nvPr/>
        </p:nvSpPr>
        <p:spPr>
          <a:xfrm>
            <a:off x="5532120" y="1280160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0D9488"/>
          </a:solidFill>
          <a:ln w="12700">
            <a:solidFill>
              <a:srgbClr val="B7E4DA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9" name="Text 17"/>
          <p:cNvSpPr/>
          <p:nvPr/>
        </p:nvSpPr>
        <p:spPr>
          <a:xfrm>
            <a:off x="5696712" y="1353312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КЛІЄНТСЬКИЙ РІВЕНЬ</a:t>
            </a:r>
            <a:endParaRPr lang="en-US" sz="900" noProof="1"/>
          </a:p>
        </p:txBody>
      </p:sp>
      <p:sp>
        <p:nvSpPr>
          <p:cNvPr id="20" name="Text 18"/>
          <p:cNvSpPr/>
          <p:nvPr/>
        </p:nvSpPr>
        <p:spPr>
          <a:xfrm>
            <a:off x="5696712" y="1536192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Web-клієнт (браузер, WebSocket)</a:t>
            </a:r>
            <a:endParaRPr lang="en-US" sz="1200" noProof="1"/>
          </a:p>
        </p:txBody>
      </p:sp>
      <p:sp>
        <p:nvSpPr>
          <p:cNvPr id="21" name="Shape 19"/>
          <p:cNvSpPr/>
          <p:nvPr/>
        </p:nvSpPr>
        <p:spPr>
          <a:xfrm>
            <a:off x="5532120" y="1947672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22" name="Text 20"/>
          <p:cNvSpPr/>
          <p:nvPr/>
        </p:nvSpPr>
        <p:spPr>
          <a:xfrm>
            <a:off x="5696712" y="2020824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ШЛЮЗОВИЙ РІВЕНЬ</a:t>
            </a:r>
            <a:endParaRPr lang="en-US" sz="900" noProof="1"/>
          </a:p>
        </p:txBody>
      </p:sp>
      <p:sp>
        <p:nvSpPr>
          <p:cNvPr id="23" name="Text 21"/>
          <p:cNvSpPr/>
          <p:nvPr/>
        </p:nvSpPr>
        <p:spPr>
          <a:xfrm>
            <a:off x="5696712" y="220370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 ·  HTTP + WebSocket</a:t>
            </a:r>
            <a:endParaRPr lang="en-US" sz="1200" noProof="1"/>
          </a:p>
        </p:txBody>
      </p:sp>
      <p:sp>
        <p:nvSpPr>
          <p:cNvPr id="24" name="Shape 22"/>
          <p:cNvSpPr/>
          <p:nvPr/>
        </p:nvSpPr>
        <p:spPr>
          <a:xfrm>
            <a:off x="5532120" y="2615184"/>
            <a:ext cx="3108960" cy="1170432"/>
          </a:xfrm>
          <a:prstGeom prst="roundRect">
            <a:avLst>
              <a:gd name="adj" fmla="val 6250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25" name="Text 23"/>
          <p:cNvSpPr/>
          <p:nvPr/>
        </p:nvSpPr>
        <p:spPr>
          <a:xfrm>
            <a:off x="5696712" y="2688336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СЕРВЕРНИЙ РІВЕНЬ</a:t>
            </a:r>
            <a:endParaRPr lang="en-US" sz="900" noProof="1"/>
          </a:p>
        </p:txBody>
      </p:sp>
      <p:sp>
        <p:nvSpPr>
          <p:cNvPr id="26" name="Shape 24"/>
          <p:cNvSpPr/>
          <p:nvPr/>
        </p:nvSpPr>
        <p:spPr>
          <a:xfrm>
            <a:off x="5696712" y="2862072"/>
            <a:ext cx="1344168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7" name="Text 25"/>
          <p:cNvSpPr/>
          <p:nvPr/>
        </p:nvSpPr>
        <p:spPr>
          <a:xfrm>
            <a:off x="5696712" y="2990088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Оркестратор</a:t>
            </a:r>
            <a:endParaRPr lang="en-US" sz="1250" noProof="1"/>
          </a:p>
        </p:txBody>
      </p:sp>
      <p:sp>
        <p:nvSpPr>
          <p:cNvPr id="28" name="Text 26"/>
          <p:cNvSpPr/>
          <p:nvPr/>
        </p:nvSpPr>
        <p:spPr>
          <a:xfrm>
            <a:off x="5696712" y="3246120"/>
            <a:ext cx="1344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</a:t>
            </a:r>
            <a:endParaRPr lang="en-US" sz="1000" noProof="1"/>
          </a:p>
        </p:txBody>
      </p:sp>
      <p:sp>
        <p:nvSpPr>
          <p:cNvPr id="29" name="Text 27"/>
          <p:cNvSpPr/>
          <p:nvPr/>
        </p:nvSpPr>
        <p:spPr>
          <a:xfrm>
            <a:off x="5696712" y="3456432"/>
            <a:ext cx="1344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· БД · події</a:t>
            </a:r>
            <a:endParaRPr lang="en-US" sz="900" noProof="1"/>
          </a:p>
        </p:txBody>
      </p:sp>
      <p:sp>
        <p:nvSpPr>
          <p:cNvPr id="30" name="Shape 28"/>
          <p:cNvSpPr/>
          <p:nvPr/>
        </p:nvSpPr>
        <p:spPr>
          <a:xfrm>
            <a:off x="7132320" y="2862072"/>
            <a:ext cx="1344168" cy="886968"/>
          </a:xfrm>
          <a:prstGeom prst="roundRect">
            <a:avLst>
              <a:gd name="adj" fmla="val 8247"/>
            </a:avLst>
          </a:prstGeom>
          <a:solidFill>
            <a:srgbClr val="EEFBF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1" name="Text 29"/>
          <p:cNvSpPr/>
          <p:nvPr/>
        </p:nvSpPr>
        <p:spPr>
          <a:xfrm>
            <a:off x="7132320" y="2990088"/>
            <a:ext cx="1344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noProof="1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Виконавчий сервіс</a:t>
            </a:r>
            <a:endParaRPr lang="en-US" sz="1250" noProof="1"/>
          </a:p>
        </p:txBody>
      </p:sp>
      <p:sp>
        <p:nvSpPr>
          <p:cNvPr id="32" name="Text 30"/>
          <p:cNvSpPr/>
          <p:nvPr/>
        </p:nvSpPr>
        <p:spPr>
          <a:xfrm>
            <a:off x="7132320" y="3246120"/>
            <a:ext cx="1344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000" noProof="1"/>
          </a:p>
        </p:txBody>
      </p:sp>
      <p:sp>
        <p:nvSpPr>
          <p:cNvPr id="33" name="Text 31"/>
          <p:cNvSpPr/>
          <p:nvPr/>
        </p:nvSpPr>
        <p:spPr>
          <a:xfrm>
            <a:off x="7132320" y="3456432"/>
            <a:ext cx="1344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· ReAct</a:t>
            </a:r>
            <a:endParaRPr lang="en-US" sz="900" noProof="1"/>
          </a:p>
        </p:txBody>
      </p:sp>
      <p:sp>
        <p:nvSpPr>
          <p:cNvPr id="34" name="Shape 32"/>
          <p:cNvSpPr/>
          <p:nvPr/>
        </p:nvSpPr>
        <p:spPr>
          <a:xfrm>
            <a:off x="5532120" y="3858768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35" name="Text 33"/>
          <p:cNvSpPr/>
          <p:nvPr/>
        </p:nvSpPr>
        <p:spPr>
          <a:xfrm>
            <a:off x="5696712" y="3931920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ІНФРАСТРУКТУРНИЙ РІВЕНЬ</a:t>
            </a:r>
            <a:endParaRPr lang="en-US" sz="900" noProof="1"/>
          </a:p>
        </p:txBody>
      </p:sp>
      <p:sp>
        <p:nvSpPr>
          <p:cNvPr id="36" name="Shape 34"/>
          <p:cNvSpPr/>
          <p:nvPr/>
        </p:nvSpPr>
        <p:spPr>
          <a:xfrm>
            <a:off x="5696712" y="4114800"/>
            <a:ext cx="86563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7" name="Text 35"/>
          <p:cNvSpPr/>
          <p:nvPr/>
        </p:nvSpPr>
        <p:spPr>
          <a:xfrm>
            <a:off x="5696712" y="4114800"/>
            <a:ext cx="865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000" noProof="1"/>
          </a:p>
        </p:txBody>
      </p:sp>
      <p:sp>
        <p:nvSpPr>
          <p:cNvPr id="38" name="Shape 36"/>
          <p:cNvSpPr/>
          <p:nvPr/>
        </p:nvSpPr>
        <p:spPr>
          <a:xfrm>
            <a:off x="6653784" y="4114800"/>
            <a:ext cx="86563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9" name="Text 37"/>
          <p:cNvSpPr/>
          <p:nvPr/>
        </p:nvSpPr>
        <p:spPr>
          <a:xfrm>
            <a:off x="6653784" y="4114800"/>
            <a:ext cx="865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1000" noProof="1"/>
          </a:p>
        </p:txBody>
      </p:sp>
      <p:sp>
        <p:nvSpPr>
          <p:cNvPr id="40" name="Shape 38"/>
          <p:cNvSpPr/>
          <p:nvPr/>
        </p:nvSpPr>
        <p:spPr>
          <a:xfrm>
            <a:off x="7610856" y="4114800"/>
            <a:ext cx="86563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41" name="Text 39"/>
          <p:cNvSpPr/>
          <p:nvPr/>
        </p:nvSpPr>
        <p:spPr>
          <a:xfrm>
            <a:off x="7610856" y="4114800"/>
            <a:ext cx="865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0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Внутрішня архітектура сервісу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noProof="1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Stateless-обробка сесій · три логічні рівні</a:t>
            </a:r>
            <a:endParaRPr lang="en-US" sz="1300" noProof="1"/>
          </a:p>
        </p:txBody>
      </p:sp>
      <p:sp>
        <p:nvSpPr>
          <p:cNvPr id="6" name="Shape 4"/>
          <p:cNvSpPr/>
          <p:nvPr/>
        </p:nvSpPr>
        <p:spPr>
          <a:xfrm>
            <a:off x="502920" y="1924812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7" name="Text 5"/>
          <p:cNvSpPr/>
          <p:nvPr/>
        </p:nvSpPr>
        <p:spPr>
          <a:xfrm>
            <a:off x="758952" y="185623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Рівень обміну повідомленнями</a:t>
            </a:r>
            <a:endParaRPr lang="en-US" sz="1350" noProof="1"/>
          </a:p>
        </p:txBody>
      </p:sp>
      <p:sp>
        <p:nvSpPr>
          <p:cNvPr id="8" name="Text 6"/>
          <p:cNvSpPr/>
          <p:nvPr/>
        </p:nvSpPr>
        <p:spPr>
          <a:xfrm>
            <a:off x="758952" y="2130552"/>
            <a:ext cx="3904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уся мережева логіка ізольована тут: адаптер брокера і публікатор доменних подій</a:t>
            </a:r>
            <a:endParaRPr lang="en-US" sz="1200" noProof="1"/>
          </a:p>
        </p:txBody>
      </p:sp>
      <p:sp>
        <p:nvSpPr>
          <p:cNvPr id="9" name="Shape 7"/>
          <p:cNvSpPr/>
          <p:nvPr/>
        </p:nvSpPr>
        <p:spPr>
          <a:xfrm>
            <a:off x="502920" y="2839212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0" name="Text 8"/>
          <p:cNvSpPr/>
          <p:nvPr/>
        </p:nvSpPr>
        <p:spPr>
          <a:xfrm>
            <a:off x="758952" y="277063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Рівень виконання</a:t>
            </a:r>
            <a:endParaRPr lang="en-US" sz="1350" noProof="1"/>
          </a:p>
        </p:txBody>
      </p:sp>
      <p:sp>
        <p:nvSpPr>
          <p:cNvPr id="11" name="Text 9"/>
          <p:cNvSpPr/>
          <p:nvPr/>
        </p:nvSpPr>
        <p:spPr>
          <a:xfrm>
            <a:off x="758952" y="3044952"/>
            <a:ext cx="3904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оркестрація сесії — координатор, будівник графа, виконавець агентів, перетворювач подій</a:t>
            </a:r>
            <a:endParaRPr lang="en-US" sz="1200" noProof="1"/>
          </a:p>
        </p:txBody>
      </p:sp>
      <p:sp>
        <p:nvSpPr>
          <p:cNvPr id="12" name="Shape 10"/>
          <p:cNvSpPr/>
          <p:nvPr/>
        </p:nvSpPr>
        <p:spPr>
          <a:xfrm>
            <a:off x="502920" y="3753612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3" name="Text 11"/>
          <p:cNvSpPr/>
          <p:nvPr/>
        </p:nvSpPr>
        <p:spPr>
          <a:xfrm>
            <a:off x="758952" y="368503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Рівень абстракцій</a:t>
            </a:r>
            <a:endParaRPr lang="en-US" sz="1350" noProof="1"/>
          </a:p>
        </p:txBody>
      </p:sp>
      <p:sp>
        <p:nvSpPr>
          <p:cNvPr id="14" name="Text 12"/>
          <p:cNvSpPr/>
          <p:nvPr/>
        </p:nvSpPr>
        <p:spPr>
          <a:xfrm>
            <a:off x="758952" y="3959352"/>
            <a:ext cx="3904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інструментів агентів (пошук, файли, час, спільна дошка) і провайдер-незалежна фабрика мовних моделей</a:t>
            </a:r>
            <a:endParaRPr lang="en-US" sz="1200" noProof="1"/>
          </a:p>
        </p:txBody>
      </p:sp>
      <p:sp>
        <p:nvSpPr>
          <p:cNvPr id="15" name="Shape 13"/>
          <p:cNvSpPr/>
          <p:nvPr/>
        </p:nvSpPr>
        <p:spPr>
          <a:xfrm>
            <a:off x="4846320" y="12801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6" name="Text 14"/>
          <p:cNvSpPr/>
          <p:nvPr/>
        </p:nvSpPr>
        <p:spPr>
          <a:xfrm>
            <a:off x="5010912" y="1353312"/>
            <a:ext cx="3465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РІВЕНЬ ОБМІНУ ПОВІДОМЛЕННЯМИ</a:t>
            </a:r>
            <a:endParaRPr lang="en-US" sz="850" noProof="1"/>
          </a:p>
        </p:txBody>
      </p:sp>
      <p:sp>
        <p:nvSpPr>
          <p:cNvPr id="17" name="Shape 15"/>
          <p:cNvSpPr/>
          <p:nvPr/>
        </p:nvSpPr>
        <p:spPr>
          <a:xfrm>
            <a:off x="5010912" y="1572768"/>
            <a:ext cx="16687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8" name="Text 16"/>
          <p:cNvSpPr/>
          <p:nvPr/>
        </p:nvSpPr>
        <p:spPr>
          <a:xfrm>
            <a:off x="5010912" y="1572768"/>
            <a:ext cx="1668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AMQP-адаптер брокера</a:t>
            </a:r>
            <a:endParaRPr lang="en-US" sz="1000" noProof="1"/>
          </a:p>
        </p:txBody>
      </p:sp>
      <p:sp>
        <p:nvSpPr>
          <p:cNvPr id="19" name="Shape 17"/>
          <p:cNvSpPr/>
          <p:nvPr/>
        </p:nvSpPr>
        <p:spPr>
          <a:xfrm>
            <a:off x="6807708" y="1572768"/>
            <a:ext cx="16687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0" name="Text 18"/>
          <p:cNvSpPr/>
          <p:nvPr/>
        </p:nvSpPr>
        <p:spPr>
          <a:xfrm>
            <a:off x="6807708" y="1572768"/>
            <a:ext cx="1668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Публікатор подій</a:t>
            </a:r>
            <a:endParaRPr lang="en-US" sz="1000" noProof="1"/>
          </a:p>
        </p:txBody>
      </p:sp>
      <p:sp>
        <p:nvSpPr>
          <p:cNvPr id="21" name="Shape 19"/>
          <p:cNvSpPr/>
          <p:nvPr/>
        </p:nvSpPr>
        <p:spPr>
          <a:xfrm>
            <a:off x="6743700" y="2194560"/>
            <a:ext cx="0" cy="13716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2" name="Shape 20"/>
          <p:cNvSpPr/>
          <p:nvPr/>
        </p:nvSpPr>
        <p:spPr>
          <a:xfrm>
            <a:off x="4846320" y="2331720"/>
            <a:ext cx="3794760" cy="1600200"/>
          </a:xfrm>
          <a:prstGeom prst="roundRect">
            <a:avLst>
              <a:gd name="adj" fmla="val 4571"/>
            </a:avLst>
          </a:prstGeom>
          <a:solidFill>
            <a:srgbClr val="EEFBF8"/>
          </a:solidFill>
          <a:ln w="12700">
            <a:solidFill>
              <a:srgbClr val="B7E4DA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23" name="Text 21"/>
          <p:cNvSpPr/>
          <p:nvPr/>
        </p:nvSpPr>
        <p:spPr>
          <a:xfrm>
            <a:off x="5010912" y="2404872"/>
            <a:ext cx="3465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РІВЕНЬ ВИКОНАННЯ</a:t>
            </a:r>
            <a:endParaRPr lang="en-US" sz="850" noProof="1"/>
          </a:p>
        </p:txBody>
      </p:sp>
      <p:sp>
        <p:nvSpPr>
          <p:cNvPr id="24" name="Shape 22"/>
          <p:cNvSpPr/>
          <p:nvPr/>
        </p:nvSpPr>
        <p:spPr>
          <a:xfrm>
            <a:off x="5010912" y="2606040"/>
            <a:ext cx="16687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5" name="Text 23"/>
          <p:cNvSpPr/>
          <p:nvPr/>
        </p:nvSpPr>
        <p:spPr>
          <a:xfrm>
            <a:off x="5010912" y="2606040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Координатор сесії</a:t>
            </a:r>
            <a:endParaRPr lang="en-US" sz="1000" noProof="1"/>
          </a:p>
        </p:txBody>
      </p:sp>
      <p:sp>
        <p:nvSpPr>
          <p:cNvPr id="26" name="Shape 24"/>
          <p:cNvSpPr/>
          <p:nvPr/>
        </p:nvSpPr>
        <p:spPr>
          <a:xfrm>
            <a:off x="6807708" y="2606040"/>
            <a:ext cx="16687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7" name="Text 25"/>
          <p:cNvSpPr/>
          <p:nvPr/>
        </p:nvSpPr>
        <p:spPr>
          <a:xfrm>
            <a:off x="6807708" y="2606040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Будівник графа (LangGraph)</a:t>
            </a:r>
            <a:endParaRPr lang="en-US" sz="1000" noProof="1"/>
          </a:p>
        </p:txBody>
      </p:sp>
      <p:sp>
        <p:nvSpPr>
          <p:cNvPr id="28" name="Shape 26"/>
          <p:cNvSpPr/>
          <p:nvPr/>
        </p:nvSpPr>
        <p:spPr>
          <a:xfrm>
            <a:off x="5010912" y="3236976"/>
            <a:ext cx="16687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9" name="Text 27"/>
          <p:cNvSpPr/>
          <p:nvPr/>
        </p:nvSpPr>
        <p:spPr>
          <a:xfrm>
            <a:off x="5010912" y="3236976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Виконавець агентів</a:t>
            </a:r>
            <a:endParaRPr lang="en-US" sz="1000" noProof="1"/>
          </a:p>
        </p:txBody>
      </p:sp>
      <p:sp>
        <p:nvSpPr>
          <p:cNvPr id="30" name="Shape 28"/>
          <p:cNvSpPr/>
          <p:nvPr/>
        </p:nvSpPr>
        <p:spPr>
          <a:xfrm>
            <a:off x="6807708" y="3236976"/>
            <a:ext cx="16687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1" name="Text 29"/>
          <p:cNvSpPr/>
          <p:nvPr/>
        </p:nvSpPr>
        <p:spPr>
          <a:xfrm>
            <a:off x="6807708" y="3236976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Перетворювач подій (ACL)</a:t>
            </a:r>
            <a:endParaRPr lang="en-US" sz="1000" noProof="1"/>
          </a:p>
        </p:txBody>
      </p:sp>
      <p:sp>
        <p:nvSpPr>
          <p:cNvPr id="32" name="Shape 30"/>
          <p:cNvSpPr/>
          <p:nvPr/>
        </p:nvSpPr>
        <p:spPr>
          <a:xfrm>
            <a:off x="6743700" y="3931920"/>
            <a:ext cx="0" cy="13716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3" name="Shape 31"/>
          <p:cNvSpPr/>
          <p:nvPr/>
        </p:nvSpPr>
        <p:spPr>
          <a:xfrm>
            <a:off x="4846320" y="406908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34" name="Text 32"/>
          <p:cNvSpPr/>
          <p:nvPr/>
        </p:nvSpPr>
        <p:spPr>
          <a:xfrm>
            <a:off x="5010912" y="4142232"/>
            <a:ext cx="3465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РІВЕНЬ АБСТРАКЦІЙ</a:t>
            </a:r>
            <a:endParaRPr lang="en-US" sz="850" noProof="1"/>
          </a:p>
        </p:txBody>
      </p:sp>
      <p:sp>
        <p:nvSpPr>
          <p:cNvPr id="35" name="Shape 33"/>
          <p:cNvSpPr/>
          <p:nvPr/>
        </p:nvSpPr>
        <p:spPr>
          <a:xfrm>
            <a:off x="5010912" y="4315968"/>
            <a:ext cx="16687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6" name="Text 34"/>
          <p:cNvSpPr/>
          <p:nvPr/>
        </p:nvSpPr>
        <p:spPr>
          <a:xfrm>
            <a:off x="5010912" y="4315968"/>
            <a:ext cx="16687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інструментів</a:t>
            </a:r>
            <a:endParaRPr lang="en-US" sz="1000" noProof="1"/>
          </a:p>
        </p:txBody>
      </p:sp>
      <p:sp>
        <p:nvSpPr>
          <p:cNvPr id="37" name="Shape 35"/>
          <p:cNvSpPr/>
          <p:nvPr/>
        </p:nvSpPr>
        <p:spPr>
          <a:xfrm>
            <a:off x="6807708" y="4315968"/>
            <a:ext cx="16687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8" name="Text 36"/>
          <p:cNvSpPr/>
          <p:nvPr/>
        </p:nvSpPr>
        <p:spPr>
          <a:xfrm>
            <a:off x="6807708" y="4315968"/>
            <a:ext cx="16687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Фабрика моделей (Ollama/OpenAI)</a:t>
            </a:r>
            <a:endParaRPr lang="en-US" sz="10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Життєвий цикл обробки сесії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noProof="1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запиту клієнта до фінального результату — синхронна ініціація та асинхронне виконання</a:t>
            </a:r>
            <a:endParaRPr lang="en-US" sz="1300" noProof="1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97380" cy="3154680"/>
          </a:xfrm>
          <a:prstGeom prst="roundRect">
            <a:avLst>
              <a:gd name="adj" fmla="val 3855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7" name="Shape 5"/>
          <p:cNvSpPr/>
          <p:nvPr/>
        </p:nvSpPr>
        <p:spPr>
          <a:xfrm>
            <a:off x="1159002" y="1847088"/>
            <a:ext cx="585216" cy="58521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1159002" y="184708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noProof="1"/>
          </a:p>
        </p:txBody>
      </p:sp>
      <p:sp>
        <p:nvSpPr>
          <p:cNvPr id="9" name="Text 7"/>
          <p:cNvSpPr/>
          <p:nvPr/>
        </p:nvSpPr>
        <p:spPr>
          <a:xfrm>
            <a:off x="649224" y="2560320"/>
            <a:ext cx="16047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СИНХРОННА ФАЗА</a:t>
            </a:r>
            <a:endParaRPr lang="en-US" sz="900" noProof="1"/>
          </a:p>
        </p:txBody>
      </p:sp>
      <p:sp>
        <p:nvSpPr>
          <p:cNvPr id="10" name="Text 8"/>
          <p:cNvSpPr/>
          <p:nvPr/>
        </p:nvSpPr>
        <p:spPr>
          <a:xfrm>
            <a:off x="649224" y="2816352"/>
            <a:ext cx="16047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35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Прийом запиту</a:t>
            </a:r>
            <a:endParaRPr lang="en-US" sz="1350" noProof="1"/>
          </a:p>
        </p:txBody>
      </p:sp>
      <p:sp>
        <p:nvSpPr>
          <p:cNvPr id="11" name="Text 9"/>
          <p:cNvSpPr/>
          <p:nvPr/>
        </p:nvSpPr>
        <p:spPr>
          <a:xfrm>
            <a:off x="667512" y="3364992"/>
            <a:ext cx="16047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2000"/>
              </a:lnSpc>
            </a:pPr>
            <a:r>
              <a:rPr lang="en-US" sz="1050" noProof="1"/>
              <a:t>Валідація запиту оркестратором, фіксація стану в БД та публікація у вхідну чергу RabbitMQ. Клієнт миттєво отримує підтвердження прийняття завдання в обробку (Non-blocking I/O).</a:t>
            </a:r>
          </a:p>
        </p:txBody>
      </p:sp>
      <p:sp>
        <p:nvSpPr>
          <p:cNvPr id="12" name="Shape 10"/>
          <p:cNvSpPr/>
          <p:nvPr/>
        </p:nvSpPr>
        <p:spPr>
          <a:xfrm>
            <a:off x="2583180" y="1627632"/>
            <a:ext cx="1897380" cy="3154680"/>
          </a:xfrm>
          <a:prstGeom prst="roundRect">
            <a:avLst>
              <a:gd name="adj" fmla="val 3855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3" name="Shape 11"/>
          <p:cNvSpPr/>
          <p:nvPr/>
        </p:nvSpPr>
        <p:spPr>
          <a:xfrm>
            <a:off x="3239262" y="1847088"/>
            <a:ext cx="585216" cy="58521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4" name="Text 12"/>
          <p:cNvSpPr/>
          <p:nvPr/>
        </p:nvSpPr>
        <p:spPr>
          <a:xfrm>
            <a:off x="3239262" y="184708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noProof="1"/>
          </a:p>
        </p:txBody>
      </p:sp>
      <p:sp>
        <p:nvSpPr>
          <p:cNvPr id="15" name="Text 13"/>
          <p:cNvSpPr/>
          <p:nvPr/>
        </p:nvSpPr>
        <p:spPr>
          <a:xfrm>
            <a:off x="2729484" y="2560320"/>
            <a:ext cx="16047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АСИНХРОННО</a:t>
            </a:r>
            <a:endParaRPr lang="en-US" sz="900" noProof="1"/>
          </a:p>
        </p:txBody>
      </p:sp>
      <p:sp>
        <p:nvSpPr>
          <p:cNvPr id="16" name="Text 14"/>
          <p:cNvSpPr/>
          <p:nvPr/>
        </p:nvSpPr>
        <p:spPr>
          <a:xfrm>
            <a:off x="2729484" y="2816352"/>
            <a:ext cx="16047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35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Побудова та запуск</a:t>
            </a:r>
            <a:endParaRPr lang="en-US" sz="1350" noProof="1"/>
          </a:p>
        </p:txBody>
      </p:sp>
      <p:sp>
        <p:nvSpPr>
          <p:cNvPr id="17" name="Text 15"/>
          <p:cNvSpPr/>
          <p:nvPr/>
        </p:nvSpPr>
        <p:spPr>
          <a:xfrm>
            <a:off x="2747772" y="3364992"/>
            <a:ext cx="15681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2000"/>
              </a:lnSpc>
            </a:pPr>
            <a:r>
              <a:rPr lang="en-US" sz="1050" noProof="1"/>
              <a:t>Споживання сесії воркером. Динамічна генерація графа LangGraph на основі конфігурації команди та делегування керування агенту-координатору.</a:t>
            </a:r>
          </a:p>
        </p:txBody>
      </p:sp>
      <p:sp>
        <p:nvSpPr>
          <p:cNvPr id="18" name="Shape 16"/>
          <p:cNvSpPr/>
          <p:nvPr/>
        </p:nvSpPr>
        <p:spPr>
          <a:xfrm>
            <a:off x="4663440" y="1627632"/>
            <a:ext cx="1897380" cy="3154680"/>
          </a:xfrm>
          <a:prstGeom prst="roundRect">
            <a:avLst>
              <a:gd name="adj" fmla="val 3855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9" name="Shape 17"/>
          <p:cNvSpPr/>
          <p:nvPr/>
        </p:nvSpPr>
        <p:spPr>
          <a:xfrm>
            <a:off x="5319522" y="1847088"/>
            <a:ext cx="585216" cy="58521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0" name="Text 18"/>
          <p:cNvSpPr/>
          <p:nvPr/>
        </p:nvSpPr>
        <p:spPr>
          <a:xfrm>
            <a:off x="5319522" y="184708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noProof="1"/>
          </a:p>
        </p:txBody>
      </p:sp>
      <p:sp>
        <p:nvSpPr>
          <p:cNvPr id="21" name="Text 19"/>
          <p:cNvSpPr/>
          <p:nvPr/>
        </p:nvSpPr>
        <p:spPr>
          <a:xfrm>
            <a:off x="4809744" y="2560320"/>
            <a:ext cx="16047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АСИНХРОННО</a:t>
            </a:r>
            <a:endParaRPr lang="en-US" sz="900" noProof="1"/>
          </a:p>
        </p:txBody>
      </p:sp>
      <p:sp>
        <p:nvSpPr>
          <p:cNvPr id="22" name="Text 20"/>
          <p:cNvSpPr/>
          <p:nvPr/>
        </p:nvSpPr>
        <p:spPr>
          <a:xfrm>
            <a:off x="4809744" y="2816352"/>
            <a:ext cx="16047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35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Трансляція подій</a:t>
            </a:r>
            <a:endParaRPr lang="en-US" sz="1350" noProof="1"/>
          </a:p>
        </p:txBody>
      </p:sp>
      <p:sp>
        <p:nvSpPr>
          <p:cNvPr id="23" name="Text 21"/>
          <p:cNvSpPr/>
          <p:nvPr/>
        </p:nvSpPr>
        <p:spPr>
          <a:xfrm>
            <a:off x="4828031" y="3364992"/>
            <a:ext cx="1604771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2000"/>
              </a:lnSpc>
            </a:pPr>
            <a:r>
              <a:rPr lang="en-US" sz="1050" noProof="1"/>
              <a:t>Трансляція кроків виконання (маршрутизація, виклик інструментів, дії ReAct-агентів) у доменні події. Публікація в чергу для подальшої ретрансляції клієнту через WebSocket у реальному часі.</a:t>
            </a:r>
          </a:p>
        </p:txBody>
      </p:sp>
      <p:sp>
        <p:nvSpPr>
          <p:cNvPr id="24" name="Shape 22"/>
          <p:cNvSpPr/>
          <p:nvPr/>
        </p:nvSpPr>
        <p:spPr>
          <a:xfrm>
            <a:off x="6743700" y="1627632"/>
            <a:ext cx="1897380" cy="3154680"/>
          </a:xfrm>
          <a:prstGeom prst="roundRect">
            <a:avLst>
              <a:gd name="adj" fmla="val 3855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25" name="Shape 23"/>
          <p:cNvSpPr/>
          <p:nvPr/>
        </p:nvSpPr>
        <p:spPr>
          <a:xfrm>
            <a:off x="7399782" y="1847088"/>
            <a:ext cx="585216" cy="585216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6" name="Text 24"/>
          <p:cNvSpPr/>
          <p:nvPr/>
        </p:nvSpPr>
        <p:spPr>
          <a:xfrm>
            <a:off x="7399782" y="184708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noProof="1"/>
          </a:p>
        </p:txBody>
      </p:sp>
      <p:sp>
        <p:nvSpPr>
          <p:cNvPr id="27" name="Text 25"/>
          <p:cNvSpPr/>
          <p:nvPr/>
        </p:nvSpPr>
        <p:spPr>
          <a:xfrm>
            <a:off x="6890004" y="2560320"/>
            <a:ext cx="16047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ЗАВЕРШЕННЯ</a:t>
            </a:r>
            <a:endParaRPr lang="en-US" sz="900" noProof="1"/>
          </a:p>
        </p:txBody>
      </p:sp>
      <p:sp>
        <p:nvSpPr>
          <p:cNvPr id="28" name="Text 26"/>
          <p:cNvSpPr/>
          <p:nvPr/>
        </p:nvSpPr>
        <p:spPr>
          <a:xfrm>
            <a:off x="6890004" y="2816352"/>
            <a:ext cx="16047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35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 або типізована помилка</a:t>
            </a:r>
            <a:endParaRPr lang="en-US" sz="1350" noProof="1"/>
          </a:p>
        </p:txBody>
      </p:sp>
      <p:sp>
        <p:nvSpPr>
          <p:cNvPr id="29" name="Text 27"/>
          <p:cNvSpPr/>
          <p:nvPr/>
        </p:nvSpPr>
        <p:spPr>
          <a:xfrm>
            <a:off x="6908292" y="3364992"/>
            <a:ext cx="17327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2000"/>
              </a:lnSpc>
            </a:pPr>
            <a:r>
              <a:rPr lang="en-US" sz="1050" noProof="1"/>
              <a:t>Транзакційна маршрутизація фінального трейсу або машиночитаного коду помилки у відповідні черги. Manual Ack брокеру надсилається виключно після фіксації результату (гарантія At-Least-Once Delivery).</a:t>
            </a:r>
          </a:p>
        </p:txBody>
      </p:sp>
      <p:sp>
        <p:nvSpPr>
          <p:cNvPr id="30" name="Text 28"/>
          <p:cNvSpPr/>
          <p:nvPr/>
        </p:nvSpPr>
        <p:spPr>
          <a:xfrm>
            <a:off x="2400300" y="1938528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noProof="1"/>
          </a:p>
        </p:txBody>
      </p:sp>
      <p:sp>
        <p:nvSpPr>
          <p:cNvPr id="31" name="Text 29"/>
          <p:cNvSpPr/>
          <p:nvPr/>
        </p:nvSpPr>
        <p:spPr>
          <a:xfrm>
            <a:off x="4480560" y="1938528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noProof="1"/>
          </a:p>
        </p:txBody>
      </p:sp>
      <p:sp>
        <p:nvSpPr>
          <p:cNvPr id="32" name="Text 30"/>
          <p:cNvSpPr/>
          <p:nvPr/>
        </p:nvSpPr>
        <p:spPr>
          <a:xfrm>
            <a:off x="6560820" y="1938528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noProof="1"/>
          </a:p>
        </p:txBody>
      </p:sp>
      <p:sp>
        <p:nvSpPr>
          <p:cNvPr id="33" name="Text 31"/>
          <p:cNvSpPr/>
          <p:nvPr/>
        </p:nvSpPr>
        <p:spPr>
          <a:xfrm>
            <a:off x="502920" y="486460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Динамічна побудова графа агентів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noProof="1"/>
          </a:p>
        </p:txBody>
      </p:sp>
      <p:sp>
        <p:nvSpPr>
          <p:cNvPr id="10" name="Text 10"/>
          <p:cNvSpPr/>
          <p:nvPr/>
        </p:nvSpPr>
        <p:spPr>
          <a:xfrm>
            <a:off x="502920" y="11704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 компілюється під конфігурацію кожної сесії — приклад «розробник — рецензент»</a:t>
            </a:r>
            <a:endParaRPr lang="en-US" sz="1300" noProof="1"/>
          </a:p>
        </p:txBody>
      </p:sp>
      <p:sp>
        <p:nvSpPr>
          <p:cNvPr id="11" name="Shape 11"/>
          <p:cNvSpPr/>
          <p:nvPr/>
        </p:nvSpPr>
        <p:spPr>
          <a:xfrm>
            <a:off x="502920" y="1554480"/>
            <a:ext cx="2468880" cy="237744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2" name="Text 12"/>
          <p:cNvSpPr/>
          <p:nvPr/>
        </p:nvSpPr>
        <p:spPr>
          <a:xfrm>
            <a:off x="658368" y="16459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КОНФІГУРАЦІЯ КОМАНДИ</a:t>
            </a:r>
            <a:endParaRPr lang="en-US" sz="850" noProof="1"/>
          </a:p>
        </p:txBody>
      </p:sp>
      <p:sp>
        <p:nvSpPr>
          <p:cNvPr id="13" name="Text 13"/>
          <p:cNvSpPr/>
          <p:nvPr/>
        </p:nvSpPr>
        <p:spPr>
          <a:xfrm>
            <a:off x="658368" y="19202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supervisor: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model: llama3.1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agents: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role: developer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qwen2.5-coder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tools: [read_file,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write_scratchpad]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role: reviewer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model: llama3.1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tools: [read_scratchpad,</a:t>
            </a:r>
            <a:endParaRPr lang="en-US" sz="850" noProof="1"/>
          </a:p>
          <a:p>
            <a:pPr marL="0" indent="0">
              <a:lnSpc>
                <a:spcPct val="105000"/>
              </a:lnSpc>
              <a:buNone/>
            </a:pPr>
            <a:r>
              <a:rPr lang="en-US" sz="850" noProof="1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web_search]</a:t>
            </a:r>
            <a:endParaRPr lang="en-US" sz="850" noProof="1"/>
          </a:p>
        </p:txBody>
      </p:sp>
      <p:sp>
        <p:nvSpPr>
          <p:cNvPr id="14" name="Shape 14"/>
          <p:cNvSpPr/>
          <p:nvPr/>
        </p:nvSpPr>
        <p:spPr>
          <a:xfrm>
            <a:off x="502920" y="4041648"/>
            <a:ext cx="2468880" cy="576072"/>
          </a:xfrm>
          <a:prstGeom prst="roundRect">
            <a:avLst>
              <a:gd name="adj" fmla="val 5161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5" name="Text 15"/>
          <p:cNvSpPr/>
          <p:nvPr/>
        </p:nvSpPr>
        <p:spPr>
          <a:xfrm>
            <a:off x="640080" y="4096512"/>
            <a:ext cx="2194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переходів графа виводиться з конфігурації: перевищення → типізована помилка, а не зациклення</a:t>
            </a:r>
            <a:endParaRPr lang="en-US" sz="800" noProof="1"/>
          </a:p>
        </p:txBody>
      </p:sp>
      <p:sp>
        <p:nvSpPr>
          <p:cNvPr id="16" name="Text 16"/>
          <p:cNvSpPr/>
          <p:nvPr/>
        </p:nvSpPr>
        <p:spPr>
          <a:xfrm>
            <a:off x="3246120" y="27432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noProof="1"/>
          </a:p>
        </p:txBody>
      </p:sp>
      <p:sp>
        <p:nvSpPr>
          <p:cNvPr id="17" name="Text 17"/>
          <p:cNvSpPr/>
          <p:nvPr/>
        </p:nvSpPr>
        <p:spPr>
          <a:xfrm>
            <a:off x="3017520" y="31638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noProof="1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build_graph()</a:t>
            </a:r>
            <a:endParaRPr lang="en-US" sz="800" noProof="1"/>
          </a:p>
        </p:txBody>
      </p:sp>
      <p:sp>
        <p:nvSpPr>
          <p:cNvPr id="18" name="Shape 18"/>
          <p:cNvSpPr/>
          <p:nvPr/>
        </p:nvSpPr>
        <p:spPr>
          <a:xfrm>
            <a:off x="3977640" y="1554480"/>
            <a:ext cx="4663440" cy="306324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9" name="Text 19"/>
          <p:cNvSpPr/>
          <p:nvPr/>
        </p:nvSpPr>
        <p:spPr>
          <a:xfrm>
            <a:off x="4133088" y="1645920"/>
            <a:ext cx="4352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СКОМПІЛЬОВАНИЙ ГРАФ СЕСІЇ · LangGraph StateGraph</a:t>
            </a:r>
            <a:endParaRPr lang="en-US" sz="850" noProof="1"/>
          </a:p>
        </p:txBody>
      </p:sp>
      <p:sp>
        <p:nvSpPr>
          <p:cNvPr id="20" name="Text 20"/>
          <p:cNvSpPr/>
          <p:nvPr/>
        </p:nvSpPr>
        <p:spPr>
          <a:xfrm>
            <a:off x="4956048" y="20116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умовний перехід: координатор обирає наступного агента</a:t>
            </a:r>
            <a:endParaRPr lang="en-US" sz="750" noProof="1"/>
          </a:p>
        </p:txBody>
      </p:sp>
      <p:sp>
        <p:nvSpPr>
          <p:cNvPr id="21" name="Shape 21"/>
          <p:cNvSpPr/>
          <p:nvPr/>
        </p:nvSpPr>
        <p:spPr>
          <a:xfrm>
            <a:off x="4160520" y="2862072"/>
            <a:ext cx="640080" cy="274320"/>
          </a:xfrm>
          <a:prstGeom prst="roundRect">
            <a:avLst>
              <a:gd name="adj" fmla="val 25000"/>
            </a:avLst>
          </a:prstGeom>
          <a:solidFill>
            <a:srgbClr val="12233A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2" name="Text 22"/>
          <p:cNvSpPr/>
          <p:nvPr/>
        </p:nvSpPr>
        <p:spPr>
          <a:xfrm>
            <a:off x="4160520" y="2862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800" noProof="1"/>
          </a:p>
        </p:txBody>
      </p:sp>
      <p:sp>
        <p:nvSpPr>
          <p:cNvPr id="23" name="Shape 23"/>
          <p:cNvSpPr/>
          <p:nvPr/>
        </p:nvSpPr>
        <p:spPr>
          <a:xfrm>
            <a:off x="4800600" y="2999232"/>
            <a:ext cx="27432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4" name="Shape 24"/>
          <p:cNvSpPr/>
          <p:nvPr/>
        </p:nvSpPr>
        <p:spPr>
          <a:xfrm>
            <a:off x="5074920" y="2560320"/>
            <a:ext cx="1463040" cy="868680"/>
          </a:xfrm>
          <a:prstGeom prst="roundRect">
            <a:avLst>
              <a:gd name="adj" fmla="val 9000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5" name="Text 25"/>
          <p:cNvSpPr/>
          <p:nvPr/>
        </p:nvSpPr>
        <p:spPr>
          <a:xfrm>
            <a:off x="5138928" y="2615184"/>
            <a:ext cx="13350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Координатор</a:t>
            </a:r>
            <a:endParaRPr lang="en-US" sz="1050" noProof="1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800" noProof="1">
                <a:solidFill>
                  <a:srgbClr val="D8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800" noProof="1"/>
          </a:p>
        </p:txBody>
      </p:sp>
      <p:sp>
        <p:nvSpPr>
          <p:cNvPr id="26" name="Shape 26"/>
          <p:cNvSpPr/>
          <p:nvPr/>
        </p:nvSpPr>
        <p:spPr>
          <a:xfrm>
            <a:off x="6903720" y="1920240"/>
            <a:ext cx="1600200" cy="658368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DEAE4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7" name="Text 27"/>
          <p:cNvSpPr/>
          <p:nvPr/>
        </p:nvSpPr>
        <p:spPr>
          <a:xfrm>
            <a:off x="6976872" y="1975104"/>
            <a:ext cx="1453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00" noProof="1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7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read_file, write_scratchpad</a:t>
            </a:r>
            <a:endParaRPr lang="en-US" sz="700" noProof="1"/>
          </a:p>
        </p:txBody>
      </p:sp>
      <p:sp>
        <p:nvSpPr>
          <p:cNvPr id="28" name="Shape 28"/>
          <p:cNvSpPr/>
          <p:nvPr/>
        </p:nvSpPr>
        <p:spPr>
          <a:xfrm>
            <a:off x="6903720" y="3611880"/>
            <a:ext cx="1600200" cy="658368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DEAE4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9" name="Text 29"/>
          <p:cNvSpPr/>
          <p:nvPr/>
        </p:nvSpPr>
        <p:spPr>
          <a:xfrm>
            <a:off x="6976872" y="3666744"/>
            <a:ext cx="1453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000" noProof="1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7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read_scratchpad, web_search</a:t>
            </a:r>
            <a:endParaRPr lang="en-US" sz="700" noProof="1"/>
          </a:p>
        </p:txBody>
      </p:sp>
      <p:sp>
        <p:nvSpPr>
          <p:cNvPr id="30" name="Shape 30"/>
          <p:cNvSpPr/>
          <p:nvPr/>
        </p:nvSpPr>
        <p:spPr>
          <a:xfrm>
            <a:off x="6903720" y="2834640"/>
            <a:ext cx="1600200" cy="548640"/>
          </a:xfrm>
          <a:prstGeom prst="roundRect">
            <a:avLst>
              <a:gd name="adj" fmla="val 5161"/>
            </a:avLst>
          </a:prstGeom>
          <a:solidFill>
            <a:srgbClr val="EEFBF8"/>
          </a:solidFill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1" name="Text 31"/>
          <p:cNvSpPr/>
          <p:nvPr/>
        </p:nvSpPr>
        <p:spPr>
          <a:xfrm>
            <a:off x="6976872" y="2871216"/>
            <a:ext cx="1453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00" b="1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900" noProof="1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700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живе лише в межах сесії</a:t>
            </a:r>
            <a:endParaRPr lang="en-US" sz="700" noProof="1"/>
          </a:p>
        </p:txBody>
      </p:sp>
      <p:sp>
        <p:nvSpPr>
          <p:cNvPr id="32" name="Shape 32"/>
          <p:cNvSpPr/>
          <p:nvPr/>
        </p:nvSpPr>
        <p:spPr>
          <a:xfrm flipV="1">
            <a:off x="6537960" y="2286000"/>
            <a:ext cx="365760" cy="50292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  <a:headEnd type="triangle" w="med" len="med"/>
            <a:tailEnd type="triangle" w="med" len="me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3" name="Shape 33"/>
          <p:cNvSpPr/>
          <p:nvPr/>
        </p:nvSpPr>
        <p:spPr>
          <a:xfrm>
            <a:off x="6537960" y="3200400"/>
            <a:ext cx="365760" cy="64008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  <a:headEnd type="triangle" w="med" len="med"/>
            <a:tailEnd type="triangle" w="med" len="me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4" name="Shape 34"/>
          <p:cNvSpPr/>
          <p:nvPr/>
        </p:nvSpPr>
        <p:spPr>
          <a:xfrm>
            <a:off x="7699248" y="2578608"/>
            <a:ext cx="0" cy="256032"/>
          </a:xfrm>
          <a:prstGeom prst="line">
            <a:avLst/>
          </a:prstGeom>
          <a:noFill/>
          <a:ln w="12700">
            <a:solidFill>
              <a:srgbClr val="0D9488"/>
            </a:solidFill>
            <a:prstDash val="dash"/>
            <a:headEnd type="triangle" w="med" len="med"/>
            <a:tailEnd type="triangle" w="med" len="me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5" name="Shape 35"/>
          <p:cNvSpPr/>
          <p:nvPr/>
        </p:nvSpPr>
        <p:spPr>
          <a:xfrm>
            <a:off x="7699248" y="3383280"/>
            <a:ext cx="0" cy="228600"/>
          </a:xfrm>
          <a:prstGeom prst="line">
            <a:avLst/>
          </a:prstGeom>
          <a:noFill/>
          <a:ln w="12700">
            <a:solidFill>
              <a:srgbClr val="0D9488"/>
            </a:solidFill>
            <a:prstDash val="dash"/>
            <a:headEnd type="triangle" w="med" len="med"/>
            <a:tailEnd type="triangle" w="med" len="me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6" name="Shape 36"/>
          <p:cNvSpPr/>
          <p:nvPr/>
        </p:nvSpPr>
        <p:spPr>
          <a:xfrm>
            <a:off x="5806440" y="3429000"/>
            <a:ext cx="0" cy="68580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37" name="Shape 37"/>
          <p:cNvSpPr/>
          <p:nvPr/>
        </p:nvSpPr>
        <p:spPr>
          <a:xfrm>
            <a:off x="5440680" y="4114800"/>
            <a:ext cx="731520" cy="274320"/>
          </a:xfrm>
          <a:prstGeom prst="roundRect">
            <a:avLst>
              <a:gd name="adj" fmla="val 25000"/>
            </a:avLst>
          </a:prstGeom>
          <a:solidFill>
            <a:srgbClr val="12233A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8" name="Text 38"/>
          <p:cNvSpPr/>
          <p:nvPr/>
        </p:nvSpPr>
        <p:spPr>
          <a:xfrm>
            <a:off x="5440680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800" noProof="1"/>
          </a:p>
        </p:txBody>
      </p:sp>
      <p:sp>
        <p:nvSpPr>
          <p:cNvPr id="39" name="Text 39"/>
          <p:cNvSpPr/>
          <p:nvPr/>
        </p:nvSpPr>
        <p:spPr>
          <a:xfrm>
            <a:off x="5029200" y="4419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7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задача виконана</a:t>
            </a:r>
            <a:endParaRPr lang="en-US" sz="75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Патерни взаємодії агентів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noProof="1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агенти працюють разом усередині сесії</a:t>
            </a:r>
            <a:endParaRPr lang="en-US" sz="1300" noProof="1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2529840" cy="3063240"/>
          </a:xfrm>
          <a:prstGeom prst="roundRect">
            <a:avLst>
              <a:gd name="adj" fmla="val 2892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7" name="Shape 5"/>
          <p:cNvSpPr/>
          <p:nvPr/>
        </p:nvSpPr>
        <p:spPr>
          <a:xfrm>
            <a:off x="722376" y="1828800"/>
            <a:ext cx="164592" cy="164592"/>
          </a:xfrm>
          <a:prstGeom prst="roundRect">
            <a:avLst>
              <a:gd name="adj" fmla="val 138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722376" y="2084832"/>
            <a:ext cx="2090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800" noProof="1"/>
          </a:p>
        </p:txBody>
      </p:sp>
      <p:sp>
        <p:nvSpPr>
          <p:cNvPr id="9" name="Text 7"/>
          <p:cNvSpPr/>
          <p:nvPr/>
        </p:nvSpPr>
        <p:spPr>
          <a:xfrm>
            <a:off x="722376" y="2560320"/>
            <a:ext cx="20909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Централізована маршрутизація зі структурованим виводом. Координатор аналізує стан і обирає наступного агента; невалідний вибір відхиляється — захист від галюцинацій моделі.</a:t>
            </a:r>
            <a:endParaRPr lang="en-US" sz="1150" noProof="1"/>
          </a:p>
        </p:txBody>
      </p:sp>
      <p:sp>
        <p:nvSpPr>
          <p:cNvPr id="10" name="Shape 8"/>
          <p:cNvSpPr/>
          <p:nvPr/>
        </p:nvSpPr>
        <p:spPr>
          <a:xfrm>
            <a:off x="3307080" y="1600200"/>
            <a:ext cx="2529840" cy="3063240"/>
          </a:xfrm>
          <a:prstGeom prst="roundRect">
            <a:avLst>
              <a:gd name="adj" fmla="val 2892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1" name="Shape 9"/>
          <p:cNvSpPr/>
          <p:nvPr/>
        </p:nvSpPr>
        <p:spPr>
          <a:xfrm>
            <a:off x="3526536" y="1828800"/>
            <a:ext cx="164592" cy="164592"/>
          </a:xfrm>
          <a:prstGeom prst="roundRect">
            <a:avLst>
              <a:gd name="adj" fmla="val 138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2" name="Text 10"/>
          <p:cNvSpPr/>
          <p:nvPr/>
        </p:nvSpPr>
        <p:spPr>
          <a:xfrm>
            <a:off x="3526536" y="2084832"/>
            <a:ext cx="2090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</a:t>
            </a:r>
            <a:endParaRPr lang="en-US" sz="1800" noProof="1"/>
          </a:p>
        </p:txBody>
      </p:sp>
      <p:sp>
        <p:nvSpPr>
          <p:cNvPr id="13" name="Text 11"/>
          <p:cNvSpPr/>
          <p:nvPr/>
        </p:nvSpPr>
        <p:spPr>
          <a:xfrm>
            <a:off x="3526536" y="2560320"/>
            <a:ext cx="20909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 «міркування ↔ дія». Агент аналізує накопичений стан, за потреби викликає інструмент (пошук, читання файлу, час) і інтерпретує результат — до готової відповіді.</a:t>
            </a:r>
            <a:endParaRPr lang="en-US" sz="1150" noProof="1"/>
          </a:p>
        </p:txBody>
      </p:sp>
      <p:sp>
        <p:nvSpPr>
          <p:cNvPr id="14" name="Shape 12"/>
          <p:cNvSpPr/>
          <p:nvPr/>
        </p:nvSpPr>
        <p:spPr>
          <a:xfrm>
            <a:off x="6111240" y="1600200"/>
            <a:ext cx="2529840" cy="3063240"/>
          </a:xfrm>
          <a:prstGeom prst="roundRect">
            <a:avLst>
              <a:gd name="adj" fmla="val 2892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5" name="Shape 13"/>
          <p:cNvSpPr/>
          <p:nvPr/>
        </p:nvSpPr>
        <p:spPr>
          <a:xfrm>
            <a:off x="6330696" y="1828800"/>
            <a:ext cx="164592" cy="164592"/>
          </a:xfrm>
          <a:prstGeom prst="roundRect">
            <a:avLst>
              <a:gd name="adj" fmla="val 138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6" name="Text 14"/>
          <p:cNvSpPr/>
          <p:nvPr/>
        </p:nvSpPr>
        <p:spPr>
          <a:xfrm>
            <a:off x="6330696" y="2084832"/>
            <a:ext cx="2090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Blackboard</a:t>
            </a:r>
            <a:endParaRPr lang="en-US" sz="1800" noProof="1"/>
          </a:p>
        </p:txBody>
      </p:sp>
      <p:sp>
        <p:nvSpPr>
          <p:cNvPr id="17" name="Text 15"/>
          <p:cNvSpPr/>
          <p:nvPr/>
        </p:nvSpPr>
        <p:spPr>
          <a:xfrm>
            <a:off x="6330696" y="2560320"/>
            <a:ext cx="20909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Спільне сховище «ключ-значення» у стані сесії: агенти обмінюються артефактами через інструменти write_scratchpad / read_scratchpad, а не через історію повідомлень. Живе лише в межах сесії — знищується разом з нею.</a:t>
            </a:r>
            <a:endParaRPr lang="en-US" sz="115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інженерні рішення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noProof="1"/>
          </a:p>
        </p:txBody>
      </p:sp>
      <p:sp>
        <p:nvSpPr>
          <p:cNvPr id="10" name="Text 10"/>
          <p:cNvSpPr/>
          <p:nvPr/>
        </p:nvSpPr>
        <p:spPr>
          <a:xfrm>
            <a:off x="502920" y="11704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Рішення, що визначають розширюваність, надійність і безпеку сервісу</a:t>
            </a:r>
            <a:endParaRPr lang="en-US" sz="1300" noProof="1"/>
          </a:p>
        </p:txBody>
      </p:sp>
      <p:sp>
        <p:nvSpPr>
          <p:cNvPr id="11" name="Shape 11"/>
          <p:cNvSpPr/>
          <p:nvPr/>
        </p:nvSpPr>
        <p:spPr>
          <a:xfrm>
            <a:off x="502920" y="1673352"/>
            <a:ext cx="128016" cy="12801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2" name="Text 12"/>
          <p:cNvSpPr/>
          <p:nvPr/>
        </p:nvSpPr>
        <p:spPr>
          <a:xfrm>
            <a:off x="758952" y="160020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інструментів агентів</a:t>
            </a:r>
            <a:endParaRPr lang="en-US" sz="1300" noProof="1"/>
          </a:p>
        </p:txBody>
      </p:sp>
      <p:sp>
        <p:nvSpPr>
          <p:cNvPr id="13" name="Text 13"/>
          <p:cNvSpPr/>
          <p:nvPr/>
        </p:nvSpPr>
        <p:spPr>
          <a:xfrm>
            <a:off x="758952" y="189280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фабричний словник «ім'я → фабрика»: агент отримує лише задекларовані в його конфігурації інструменти — web_search, read_file, current_time, write_scratchpad / read_scratchpad</a:t>
            </a:r>
            <a:endParaRPr lang="en-US" sz="1100" noProof="1"/>
          </a:p>
        </p:txBody>
      </p:sp>
      <p:sp>
        <p:nvSpPr>
          <p:cNvPr id="14" name="Shape 14"/>
          <p:cNvSpPr/>
          <p:nvPr/>
        </p:nvSpPr>
        <p:spPr>
          <a:xfrm>
            <a:off x="502920" y="2862072"/>
            <a:ext cx="128016" cy="12801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5" name="Text 15"/>
          <p:cNvSpPr/>
          <p:nvPr/>
        </p:nvSpPr>
        <p:spPr>
          <a:xfrm>
            <a:off x="758952" y="278892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Провайдер-незалежна фабрика моделей</a:t>
            </a:r>
            <a:endParaRPr lang="en-US" sz="1300" noProof="1"/>
          </a:p>
        </p:txBody>
      </p:sp>
      <p:sp>
        <p:nvSpPr>
          <p:cNvPr id="16" name="Text 16"/>
          <p:cNvSpPr/>
          <p:nvPr/>
        </p:nvSpPr>
        <p:spPr>
          <a:xfrm>
            <a:off x="758952" y="308152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або OpenAI-API, вибір задається на рівні агента; новий провайдер = розширення однієї функції</a:t>
            </a:r>
            <a:endParaRPr lang="en-US" sz="1100" noProof="1"/>
          </a:p>
        </p:txBody>
      </p:sp>
      <p:sp>
        <p:nvSpPr>
          <p:cNvPr id="17" name="Shape 17"/>
          <p:cNvSpPr/>
          <p:nvPr/>
        </p:nvSpPr>
        <p:spPr>
          <a:xfrm>
            <a:off x="4663440" y="1673352"/>
            <a:ext cx="128016" cy="12801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8" name="Text 18"/>
          <p:cNvSpPr/>
          <p:nvPr/>
        </p:nvSpPr>
        <p:spPr>
          <a:xfrm>
            <a:off x="4919472" y="160020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Гібридний механізм координації</a:t>
            </a:r>
            <a:endParaRPr lang="en-US" sz="1300" noProof="1"/>
          </a:p>
        </p:txBody>
      </p:sp>
      <p:sp>
        <p:nvSpPr>
          <p:cNvPr id="19" name="Text 19"/>
          <p:cNvSpPr/>
          <p:nvPr/>
        </p:nvSpPr>
        <p:spPr>
          <a:xfrm>
            <a:off x="4919472" y="189280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детермінована маршрутизація на базі FSM (кінцевих автоматів) та динамічна маршрутизація за допомогою LLM</a:t>
            </a:r>
            <a:endParaRPr lang="en-US" sz="1100" noProof="1"/>
          </a:p>
        </p:txBody>
      </p:sp>
      <p:sp>
        <p:nvSpPr>
          <p:cNvPr id="20" name="Shape 20"/>
          <p:cNvSpPr/>
          <p:nvPr/>
        </p:nvSpPr>
        <p:spPr>
          <a:xfrm>
            <a:off x="4663440" y="2862072"/>
            <a:ext cx="128016" cy="12801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1" name="Text 21"/>
          <p:cNvSpPr/>
          <p:nvPr/>
        </p:nvSpPr>
        <p:spPr>
          <a:xfrm>
            <a:off x="4919472" y="278892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Запобігання Path Traversal</a:t>
            </a:r>
            <a:endParaRPr lang="en-US" sz="1300" noProof="1"/>
          </a:p>
        </p:txBody>
      </p:sp>
      <p:sp>
        <p:nvSpPr>
          <p:cNvPr id="22" name="Text 22"/>
          <p:cNvSpPr/>
          <p:nvPr/>
        </p:nvSpPr>
        <p:spPr>
          <a:xfrm>
            <a:off x="4919472" y="308152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пісочниця (sandbox) для I/O операцій з жорсткою прив'язкою до робочого каталогу сесії</a:t>
            </a:r>
            <a:endParaRPr lang="en-US" sz="1100" noProof="1"/>
          </a:p>
        </p:txBody>
      </p:sp>
      <p:sp>
        <p:nvSpPr>
          <p:cNvPr id="23" name="Shape 23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5161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24" name="Text 24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рішення підпорядковані трьом цілям: розширюваність, надійність і безпека прикладного коду сервісу.</a:t>
            </a:r>
            <a:endParaRPr lang="en-US" sz="115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Надійність та обробка помилок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noProof="1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стійкості до збоїв та стабільний контракт з оркестратором</a:t>
            </a:r>
            <a:endParaRPr lang="en-US" sz="1300" noProof="1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7" name="Shape 5"/>
          <p:cNvSpPr/>
          <p:nvPr/>
        </p:nvSpPr>
        <p:spPr>
          <a:xfrm>
            <a:off x="722376" y="1847088"/>
            <a:ext cx="146304" cy="146304"/>
          </a:xfrm>
          <a:prstGeom prst="roundRect">
            <a:avLst>
              <a:gd name="adj" fmla="val 15625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8" name="Text 6"/>
          <p:cNvSpPr/>
          <p:nvPr/>
        </p:nvSpPr>
        <p:spPr>
          <a:xfrm>
            <a:off x="960120" y="1801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Anti-Corruption Layer</a:t>
            </a:r>
            <a:endParaRPr lang="en-US" sz="1450" noProof="1"/>
          </a:p>
        </p:txBody>
      </p:sp>
      <p:sp>
        <p:nvSpPr>
          <p:cNvPr id="9" name="Text 7"/>
          <p:cNvSpPr/>
          <p:nvPr/>
        </p:nvSpPr>
        <p:spPr>
          <a:xfrm>
            <a:off x="722376" y="2157984"/>
            <a:ext cx="3511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внутрішні події LangGraph перетворюються на доменні події контракту — «обрано агента», «викликано інструмент», «крок завершено»; платформа не залежить від версії бібліотеки</a:t>
            </a:r>
            <a:endParaRPr lang="en-US" sz="1200" noProof="1"/>
          </a:p>
        </p:txBody>
      </p:sp>
      <p:sp>
        <p:nvSpPr>
          <p:cNvPr id="10" name="Shape 8"/>
          <p:cNvSpPr/>
          <p:nvPr/>
        </p:nvSpPr>
        <p:spPr>
          <a:xfrm>
            <a:off x="4709160" y="1627632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1" name="Shape 9"/>
          <p:cNvSpPr/>
          <p:nvPr/>
        </p:nvSpPr>
        <p:spPr>
          <a:xfrm>
            <a:off x="4928616" y="1847088"/>
            <a:ext cx="146304" cy="146304"/>
          </a:xfrm>
          <a:prstGeom prst="roundRect">
            <a:avLst>
              <a:gd name="adj" fmla="val 15625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2" name="Text 10"/>
          <p:cNvSpPr/>
          <p:nvPr/>
        </p:nvSpPr>
        <p:spPr>
          <a:xfrm>
            <a:off x="5166360" y="18013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Exponential Backoff</a:t>
            </a:r>
            <a:endParaRPr lang="en-US" sz="1450" noProof="1"/>
          </a:p>
        </p:txBody>
      </p:sp>
      <p:sp>
        <p:nvSpPr>
          <p:cNvPr id="13" name="Text 11"/>
          <p:cNvSpPr/>
          <p:nvPr/>
        </p:nvSpPr>
        <p:spPr>
          <a:xfrm>
            <a:off x="4928616" y="2157984"/>
            <a:ext cx="3511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втраті брокера інтервал перепідключення подвоюється до верхньої межі; після відновлення споживання триває без втрат</a:t>
            </a:r>
            <a:endParaRPr lang="en-US" sz="1200" noProof="1"/>
          </a:p>
        </p:txBody>
      </p:sp>
      <p:sp>
        <p:nvSpPr>
          <p:cNvPr id="14" name="Shape 12"/>
          <p:cNvSpPr/>
          <p:nvPr/>
        </p:nvSpPr>
        <p:spPr>
          <a:xfrm>
            <a:off x="502920" y="3264408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5" name="Shape 13"/>
          <p:cNvSpPr/>
          <p:nvPr/>
        </p:nvSpPr>
        <p:spPr>
          <a:xfrm>
            <a:off x="722376" y="3483864"/>
            <a:ext cx="146304" cy="146304"/>
          </a:xfrm>
          <a:prstGeom prst="roundRect">
            <a:avLst>
              <a:gd name="adj" fmla="val 15625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6" name="Text 14"/>
          <p:cNvSpPr/>
          <p:nvPr/>
        </p:nvSpPr>
        <p:spPr>
          <a:xfrm>
            <a:off x="960120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Типізація збоїв та ізоляція помилок</a:t>
            </a:r>
            <a:endParaRPr lang="en-US" sz="1450" noProof="1"/>
          </a:p>
        </p:txBody>
      </p:sp>
      <p:sp>
        <p:nvSpPr>
          <p:cNvPr id="17" name="Text 15"/>
          <p:cNvSpPr/>
          <p:nvPr/>
        </p:nvSpPr>
        <p:spPr>
          <a:xfrm>
            <a:off x="722376" y="3794760"/>
            <a:ext cx="3511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типізованих відмов у виділену чергу помилок з машиночитаними кодами (4 черги: запити · події · результати · помилки)</a:t>
            </a:r>
            <a:endParaRPr lang="en-US" sz="1200" noProof="1"/>
          </a:p>
        </p:txBody>
      </p:sp>
      <p:sp>
        <p:nvSpPr>
          <p:cNvPr id="18" name="Shape 16"/>
          <p:cNvSpPr/>
          <p:nvPr/>
        </p:nvSpPr>
        <p:spPr>
          <a:xfrm>
            <a:off x="4709160" y="3264408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7F9FC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9" name="Shape 17"/>
          <p:cNvSpPr/>
          <p:nvPr/>
        </p:nvSpPr>
        <p:spPr>
          <a:xfrm>
            <a:off x="4928616" y="3483864"/>
            <a:ext cx="146304" cy="146304"/>
          </a:xfrm>
          <a:prstGeom prst="roundRect">
            <a:avLst>
              <a:gd name="adj" fmla="val 15625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0" name="Text 18"/>
          <p:cNvSpPr/>
          <p:nvPr/>
        </p:nvSpPr>
        <p:spPr>
          <a:xfrm>
            <a:off x="5166360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 Acknowledgement</a:t>
            </a:r>
            <a:endParaRPr lang="en-US" sz="1450" noProof="1"/>
          </a:p>
        </p:txBody>
      </p:sp>
      <p:sp>
        <p:nvSpPr>
          <p:cNvPr id="21" name="Text 19"/>
          <p:cNvSpPr/>
          <p:nvPr/>
        </p:nvSpPr>
        <p:spPr>
          <a:xfrm>
            <a:off x="4928616" y="3794760"/>
            <a:ext cx="3511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підтвердження надсилається лише після публікації результату; відмова вузла (Node failure) не призводить до втрати даних</a:t>
            </a:r>
            <a:endParaRPr lang="en-US" sz="120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Тестування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noProof="1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Стратегія та інструментарій</a:t>
            </a:r>
            <a:endParaRPr lang="en-US" sz="1200" noProof="1"/>
          </a:p>
        </p:txBody>
      </p:sp>
      <p:sp>
        <p:nvSpPr>
          <p:cNvPr id="6" name="Shape 4"/>
          <p:cNvSpPr/>
          <p:nvPr/>
        </p:nvSpPr>
        <p:spPr>
          <a:xfrm>
            <a:off x="502920" y="1650492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7" name="Text 5"/>
          <p:cNvSpPr/>
          <p:nvPr/>
        </p:nvSpPr>
        <p:spPr>
          <a:xfrm>
            <a:off x="758952" y="15819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Мокування LLM-інференсу</a:t>
            </a:r>
            <a:endParaRPr lang="en-US" sz="1300" noProof="1"/>
          </a:p>
        </p:txBody>
      </p:sp>
      <p:sp>
        <p:nvSpPr>
          <p:cNvPr id="8" name="Text 6"/>
          <p:cNvSpPr/>
          <p:nvPr/>
        </p:nvSpPr>
        <p:spPr>
          <a:xfrm>
            <a:off x="758952" y="1856232"/>
            <a:ext cx="3904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заміна недетермінованих викликів моделі тестовими дублерами для стабільного та повторюваного CI/CD-конвеєра</a:t>
            </a:r>
            <a:endParaRPr lang="en-US" sz="1200" noProof="1"/>
          </a:p>
        </p:txBody>
      </p:sp>
      <p:sp>
        <p:nvSpPr>
          <p:cNvPr id="9" name="Shape 7"/>
          <p:cNvSpPr/>
          <p:nvPr/>
        </p:nvSpPr>
        <p:spPr>
          <a:xfrm>
            <a:off x="502920" y="2583180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0" name="Text 8"/>
          <p:cNvSpPr/>
          <p:nvPr/>
        </p:nvSpPr>
        <p:spPr>
          <a:xfrm>
            <a:off x="758952" y="2514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Класична тестова піраміда</a:t>
            </a:r>
            <a:endParaRPr lang="en-US" sz="1300" noProof="1"/>
          </a:p>
        </p:txBody>
      </p:sp>
      <p:sp>
        <p:nvSpPr>
          <p:cNvPr id="11" name="Text 9"/>
          <p:cNvSpPr/>
          <p:nvPr/>
        </p:nvSpPr>
        <p:spPr>
          <a:xfrm>
            <a:off x="758952" y="2788920"/>
            <a:ext cx="3904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— швидкі модульні тести бізнес-логіки, вище — інтеграція з інфраструктурою та наскрізні сценарії</a:t>
            </a:r>
            <a:endParaRPr lang="en-US" sz="1200" noProof="1"/>
          </a:p>
        </p:txBody>
      </p:sp>
      <p:sp>
        <p:nvSpPr>
          <p:cNvPr id="12" name="Shape 10"/>
          <p:cNvSpPr/>
          <p:nvPr/>
        </p:nvSpPr>
        <p:spPr>
          <a:xfrm>
            <a:off x="502920" y="3515868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3" name="Text 11"/>
          <p:cNvSpPr/>
          <p:nvPr/>
        </p:nvSpPr>
        <p:spPr>
          <a:xfrm>
            <a:off x="758952" y="34472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Testcontainers для інфраструктури</a:t>
            </a:r>
            <a:endParaRPr lang="en-US" sz="1300" noProof="1"/>
          </a:p>
        </p:txBody>
      </p:sp>
      <p:sp>
        <p:nvSpPr>
          <p:cNvPr id="14" name="Text 12"/>
          <p:cNvSpPr/>
          <p:nvPr/>
        </p:nvSpPr>
        <p:spPr>
          <a:xfrm>
            <a:off x="758952" y="3721608"/>
            <a:ext cx="3904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інтеграційний тест піднімає реальний RabbitMQ в ephemeral-контейнері, а не мок — валідація інфраструктурного контракту в справжніх умовах</a:t>
            </a:r>
            <a:endParaRPr lang="en-US" sz="1200" noProof="1"/>
          </a:p>
        </p:txBody>
      </p:sp>
      <p:sp>
        <p:nvSpPr>
          <p:cNvPr id="15" name="Shape 13"/>
          <p:cNvSpPr/>
          <p:nvPr/>
        </p:nvSpPr>
        <p:spPr>
          <a:xfrm>
            <a:off x="6217920" y="1417320"/>
            <a:ext cx="1005840" cy="502920"/>
          </a:xfrm>
          <a:prstGeom prst="trapezoid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Наскрізні (E2E)</a:t>
            </a:r>
            <a:endParaRPr lang="en-US" sz="1000" noProof="1"/>
          </a:p>
        </p:txBody>
      </p:sp>
      <p:sp>
        <p:nvSpPr>
          <p:cNvPr id="17" name="Text 15"/>
          <p:cNvSpPr/>
          <p:nvPr/>
        </p:nvSpPr>
        <p:spPr>
          <a:xfrm>
            <a:off x="6217920" y="16459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тестів</a:t>
            </a:r>
            <a:endParaRPr lang="en-US" sz="1100" noProof="1"/>
          </a:p>
        </p:txBody>
      </p:sp>
      <p:sp>
        <p:nvSpPr>
          <p:cNvPr id="18" name="Shape 16"/>
          <p:cNvSpPr/>
          <p:nvPr/>
        </p:nvSpPr>
        <p:spPr>
          <a:xfrm>
            <a:off x="5897880" y="2011680"/>
            <a:ext cx="1645920" cy="548640"/>
          </a:xfrm>
          <a:prstGeom prst="trapezoid">
            <a:avLst/>
          </a:prstGeom>
          <a:solidFill>
            <a:srgbClr val="2B3E5C"/>
          </a:solidFill>
          <a:ln w="12700">
            <a:solidFill>
              <a:srgbClr val="2B3E5C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19" name="Text 17"/>
          <p:cNvSpPr/>
          <p:nvPr/>
        </p:nvSpPr>
        <p:spPr>
          <a:xfrm>
            <a:off x="5897880" y="20574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Інтеграційні</a:t>
            </a:r>
            <a:endParaRPr lang="en-US" sz="1000" noProof="1"/>
          </a:p>
        </p:txBody>
      </p:sp>
      <p:sp>
        <p:nvSpPr>
          <p:cNvPr id="20" name="Text 18"/>
          <p:cNvSpPr/>
          <p:nvPr/>
        </p:nvSpPr>
        <p:spPr>
          <a:xfrm>
            <a:off x="5897880" y="22860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тестів</a:t>
            </a:r>
            <a:endParaRPr lang="en-US" sz="1100" noProof="1"/>
          </a:p>
        </p:txBody>
      </p:sp>
      <p:sp>
        <p:nvSpPr>
          <p:cNvPr id="21" name="Shape 19"/>
          <p:cNvSpPr/>
          <p:nvPr/>
        </p:nvSpPr>
        <p:spPr>
          <a:xfrm>
            <a:off x="5554980" y="2651760"/>
            <a:ext cx="2331720" cy="822960"/>
          </a:xfrm>
          <a:prstGeom prst="trapezoid">
            <a:avLst/>
          </a:prstGeom>
          <a:solidFill>
            <a:srgbClr val="EEFBF8"/>
          </a:solidFill>
          <a:ln w="12700">
            <a:solidFill>
              <a:srgbClr val="EEFBF8"/>
            </a:solidFill>
            <a:prstDash val="solid"/>
          </a:ln>
        </p:spPr>
        <p:txBody>
          <a:bodyPr/>
          <a:lstStyle/>
          <a:p>
            <a:endParaRPr lang="en-US" noProof="1"/>
          </a:p>
        </p:txBody>
      </p:sp>
      <p:sp>
        <p:nvSpPr>
          <p:cNvPr id="22" name="Text 20"/>
          <p:cNvSpPr/>
          <p:nvPr/>
        </p:nvSpPr>
        <p:spPr>
          <a:xfrm>
            <a:off x="5554980" y="26974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Модульні</a:t>
            </a:r>
            <a:endParaRPr lang="en-US" sz="1000" noProof="1"/>
          </a:p>
        </p:txBody>
      </p:sp>
      <p:sp>
        <p:nvSpPr>
          <p:cNvPr id="23" name="Text 21"/>
          <p:cNvSpPr/>
          <p:nvPr/>
        </p:nvSpPr>
        <p:spPr>
          <a:xfrm>
            <a:off x="5554980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noProof="1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тестів</a:t>
            </a:r>
            <a:endParaRPr lang="en-US" sz="1100" noProof="1"/>
          </a:p>
        </p:txBody>
      </p:sp>
      <p:sp>
        <p:nvSpPr>
          <p:cNvPr id="24" name="Text 22"/>
          <p:cNvSpPr/>
          <p:nvPr/>
        </p:nvSpPr>
        <p:spPr>
          <a:xfrm>
            <a:off x="5349240" y="3566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тестова піраміда</a:t>
            </a:r>
            <a:endParaRPr lang="en-US" sz="950" noProof="1"/>
          </a:p>
        </p:txBody>
      </p:sp>
      <p:sp>
        <p:nvSpPr>
          <p:cNvPr id="25" name="Shape 23"/>
          <p:cNvSpPr/>
          <p:nvPr/>
        </p:nvSpPr>
        <p:spPr>
          <a:xfrm>
            <a:off x="4754880" y="3977640"/>
            <a:ext cx="1185672" cy="777240"/>
          </a:xfrm>
          <a:prstGeom prst="roundRect">
            <a:avLst>
              <a:gd name="adj" fmla="val 9412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26" name="Text 24"/>
          <p:cNvSpPr/>
          <p:nvPr/>
        </p:nvSpPr>
        <p:spPr>
          <a:xfrm>
            <a:off x="4754880" y="4041648"/>
            <a:ext cx="1185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200" noProof="1"/>
          </a:p>
        </p:txBody>
      </p:sp>
      <p:sp>
        <p:nvSpPr>
          <p:cNvPr id="27" name="Text 25"/>
          <p:cNvSpPr/>
          <p:nvPr/>
        </p:nvSpPr>
        <p:spPr>
          <a:xfrm>
            <a:off x="4754880" y="4443984"/>
            <a:ext cx="1185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тестів</a:t>
            </a:r>
            <a:endParaRPr lang="en-US" sz="950" noProof="1"/>
          </a:p>
        </p:txBody>
      </p:sp>
      <p:sp>
        <p:nvSpPr>
          <p:cNvPr id="28" name="Shape 26"/>
          <p:cNvSpPr/>
          <p:nvPr/>
        </p:nvSpPr>
        <p:spPr>
          <a:xfrm>
            <a:off x="6105144" y="3977640"/>
            <a:ext cx="1185672" cy="777240"/>
          </a:xfrm>
          <a:prstGeom prst="roundRect">
            <a:avLst>
              <a:gd name="adj" fmla="val 9412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29" name="Text 27"/>
          <p:cNvSpPr/>
          <p:nvPr/>
        </p:nvSpPr>
        <p:spPr>
          <a:xfrm>
            <a:off x="6105144" y="4041648"/>
            <a:ext cx="1185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200" noProof="1"/>
          </a:p>
        </p:txBody>
      </p:sp>
      <p:sp>
        <p:nvSpPr>
          <p:cNvPr id="30" name="Text 28"/>
          <p:cNvSpPr/>
          <p:nvPr/>
        </p:nvSpPr>
        <p:spPr>
          <a:xfrm>
            <a:off x="6105144" y="4443984"/>
            <a:ext cx="1185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покриття</a:t>
            </a:r>
            <a:endParaRPr lang="en-US" sz="950" noProof="1"/>
          </a:p>
        </p:txBody>
      </p:sp>
      <p:sp>
        <p:nvSpPr>
          <p:cNvPr id="31" name="Shape 29"/>
          <p:cNvSpPr/>
          <p:nvPr/>
        </p:nvSpPr>
        <p:spPr>
          <a:xfrm>
            <a:off x="7455408" y="3977640"/>
            <a:ext cx="1185672" cy="777240"/>
          </a:xfrm>
          <a:prstGeom prst="roundRect">
            <a:avLst>
              <a:gd name="adj" fmla="val 9412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32" name="Text 30"/>
          <p:cNvSpPr/>
          <p:nvPr/>
        </p:nvSpPr>
        <p:spPr>
          <a:xfrm>
            <a:off x="7455408" y="4041648"/>
            <a:ext cx="1185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noProof="1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~600</a:t>
            </a:r>
            <a:endParaRPr lang="en-US" sz="2200" noProof="1"/>
          </a:p>
        </p:txBody>
      </p:sp>
      <p:sp>
        <p:nvSpPr>
          <p:cNvPr id="33" name="Text 31"/>
          <p:cNvSpPr/>
          <p:nvPr/>
        </p:nvSpPr>
        <p:spPr>
          <a:xfrm>
            <a:off x="7455408" y="4443984"/>
            <a:ext cx="1185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стейтментів</a:t>
            </a:r>
            <a:endParaRPr lang="en-US" sz="95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Впровадження та розгортання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noProof="1"/>
          </a:p>
        </p:txBody>
      </p:sp>
      <p:sp>
        <p:nvSpPr>
          <p:cNvPr id="5" name="Shape 3"/>
          <p:cNvSpPr/>
          <p:nvPr/>
        </p:nvSpPr>
        <p:spPr>
          <a:xfrm>
            <a:off x="502920" y="1348740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6" name="Text 4"/>
          <p:cNvSpPr/>
          <p:nvPr/>
        </p:nvSpPr>
        <p:spPr>
          <a:xfrm>
            <a:off x="758952" y="1280160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Мультистадійний Docker-образ</a:t>
            </a:r>
            <a:endParaRPr lang="en-US" sz="1350" noProof="1"/>
          </a:p>
        </p:txBody>
      </p:sp>
      <p:sp>
        <p:nvSpPr>
          <p:cNvPr id="7" name="Text 5"/>
          <p:cNvSpPr/>
          <p:nvPr/>
        </p:nvSpPr>
        <p:spPr>
          <a:xfrm>
            <a:off x="758952" y="1554480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стадії build і runtime розділені; мінімальний фінальний образ, non-root користувач</a:t>
            </a:r>
            <a:endParaRPr lang="en-US" sz="1100" noProof="1"/>
          </a:p>
        </p:txBody>
      </p:sp>
      <p:sp>
        <p:nvSpPr>
          <p:cNvPr id="8" name="Shape 6"/>
          <p:cNvSpPr/>
          <p:nvPr/>
        </p:nvSpPr>
        <p:spPr>
          <a:xfrm>
            <a:off x="502920" y="2208276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9" name="Text 7"/>
          <p:cNvSpPr/>
          <p:nvPr/>
        </p:nvSpPr>
        <p:spPr>
          <a:xfrm>
            <a:off x="758952" y="2139696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Горизонтальне масштабування</a:t>
            </a:r>
            <a:endParaRPr lang="en-US" sz="1350" noProof="1"/>
          </a:p>
        </p:txBody>
      </p:sp>
      <p:sp>
        <p:nvSpPr>
          <p:cNvPr id="10" name="Text 8"/>
          <p:cNvSpPr/>
          <p:nvPr/>
        </p:nvSpPr>
        <p:spPr>
          <a:xfrm>
            <a:off x="758952" y="2414016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піднімає 2 репліки на спільну чергу — брокер розподіляє round-robin, без координації</a:t>
            </a:r>
            <a:endParaRPr lang="en-US" sz="1200" noProof="1"/>
          </a:p>
        </p:txBody>
      </p:sp>
      <p:sp>
        <p:nvSpPr>
          <p:cNvPr id="11" name="Shape 9"/>
          <p:cNvSpPr/>
          <p:nvPr/>
        </p:nvSpPr>
        <p:spPr>
          <a:xfrm>
            <a:off x="502920" y="3067812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2" name="Text 10"/>
          <p:cNvSpPr/>
          <p:nvPr/>
        </p:nvSpPr>
        <p:spPr>
          <a:xfrm>
            <a:off x="758952" y="29992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12-факторна конфігурація</a:t>
            </a:r>
            <a:endParaRPr lang="en-US" sz="1350" noProof="1"/>
          </a:p>
        </p:txBody>
      </p:sp>
      <p:sp>
        <p:nvSpPr>
          <p:cNvPr id="13" name="Text 11"/>
          <p:cNvSpPr/>
          <p:nvPr/>
        </p:nvSpPr>
        <p:spPr>
          <a:xfrm>
            <a:off x="758952" y="3273552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параметри — у змінних середовища через Pydantic Settings; один образ для всіх середовищ</a:t>
            </a:r>
            <a:endParaRPr lang="en-US" sz="1200" noProof="1"/>
          </a:p>
        </p:txBody>
      </p:sp>
      <p:sp>
        <p:nvSpPr>
          <p:cNvPr id="14" name="Shape 12"/>
          <p:cNvSpPr/>
          <p:nvPr/>
        </p:nvSpPr>
        <p:spPr>
          <a:xfrm>
            <a:off x="502920" y="3927348"/>
            <a:ext cx="128016" cy="128016"/>
          </a:xfrm>
          <a:prstGeom prst="roundRect">
            <a:avLst>
              <a:gd name="adj" fmla="val 17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15" name="Text 13"/>
          <p:cNvSpPr/>
          <p:nvPr/>
        </p:nvSpPr>
        <p:spPr>
          <a:xfrm>
            <a:off x="758952" y="3858768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noProof="1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на GitHub Actions</a:t>
            </a:r>
            <a:endParaRPr lang="en-US" sz="1350" noProof="1"/>
          </a:p>
        </p:txBody>
      </p:sp>
      <p:sp>
        <p:nvSpPr>
          <p:cNvPr id="16" name="Text 14"/>
          <p:cNvSpPr/>
          <p:nvPr/>
        </p:nvSpPr>
        <p:spPr>
          <a:xfrm>
            <a:off x="758952" y="4133088"/>
            <a:ext cx="4087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2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тестовий гейт ≥ 70% покриття → збірка й публікація мультиплатформного образу в реєстр</a:t>
            </a:r>
            <a:endParaRPr lang="en-US" sz="1200" noProof="1"/>
          </a:p>
        </p:txBody>
      </p:sp>
      <p:sp>
        <p:nvSpPr>
          <p:cNvPr id="17" name="Shape 15"/>
          <p:cNvSpPr/>
          <p:nvPr/>
        </p:nvSpPr>
        <p:spPr>
          <a:xfrm>
            <a:off x="5029200" y="1417320"/>
            <a:ext cx="3611880" cy="2055543"/>
          </a:xfrm>
          <a:prstGeom prst="roundRect">
            <a:avLst>
              <a:gd name="adj" fmla="val 355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pic>
        <p:nvPicPr>
          <p:cNvPr id="18" name="Image 0" descr="/home/claude/assets/ci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508760"/>
            <a:ext cx="3429000" cy="1744647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029200" y="3289983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Unit &amp; E2E tests → Build Docker image (success)</a:t>
            </a:r>
            <a:endParaRPr lang="en-US" sz="950" noProof="1"/>
          </a:p>
        </p:txBody>
      </p:sp>
      <p:sp>
        <p:nvSpPr>
          <p:cNvPr id="20" name="Text 17"/>
          <p:cNvSpPr/>
          <p:nvPr/>
        </p:nvSpPr>
        <p:spPr>
          <a:xfrm>
            <a:off x="5029200" y="3619167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Тестовий гейт → автоматична збірка та публікація образу в реєстр контейнерів (Docker Hub)</a:t>
            </a:r>
            <a:endParaRPr lang="en-US" sz="1000" noProof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173736" cy="173736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3" name="Text 1"/>
          <p:cNvSpPr/>
          <p:nvPr/>
        </p:nvSpPr>
        <p:spPr>
          <a:xfrm>
            <a:off x="777240" y="365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noProof="1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Висновки та результати роботи</a:t>
            </a:r>
            <a:endParaRPr lang="en-US" sz="2900" noProof="1"/>
          </a:p>
        </p:txBody>
      </p:sp>
      <p:sp>
        <p:nvSpPr>
          <p:cNvPr id="4" name="Text 2"/>
          <p:cNvSpPr/>
          <p:nvPr/>
        </p:nvSpPr>
        <p:spPr>
          <a:xfrm>
            <a:off x="8229600" y="48280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noProof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noProof="1"/>
          </a:p>
        </p:txBody>
      </p:sp>
      <p:sp>
        <p:nvSpPr>
          <p:cNvPr id="10" name="Text 10"/>
          <p:cNvSpPr/>
          <p:nvPr/>
        </p:nvSpPr>
        <p:spPr>
          <a:xfrm>
            <a:off x="502920" y="14173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250" noProof="1"/>
          </a:p>
        </p:txBody>
      </p:sp>
      <p:sp>
        <p:nvSpPr>
          <p:cNvPr id="11" name="Text 11"/>
          <p:cNvSpPr/>
          <p:nvPr/>
        </p:nvSpPr>
        <p:spPr>
          <a:xfrm>
            <a:off x="822960" y="141732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Реалізовано мікросервіс оркестрації ШІ-агентів у складі платформи AgentForge</a:t>
            </a:r>
            <a:endParaRPr lang="en-US" sz="1250" noProof="1"/>
          </a:p>
        </p:txBody>
      </p:sp>
      <p:sp>
        <p:nvSpPr>
          <p:cNvPr id="12" name="Text 12"/>
          <p:cNvSpPr/>
          <p:nvPr/>
        </p:nvSpPr>
        <p:spPr>
          <a:xfrm>
            <a:off x="502920" y="2075688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250" noProof="1"/>
          </a:p>
        </p:txBody>
      </p:sp>
      <p:sp>
        <p:nvSpPr>
          <p:cNvPr id="13" name="Text 13"/>
          <p:cNvSpPr/>
          <p:nvPr/>
        </p:nvSpPr>
        <p:spPr>
          <a:xfrm>
            <a:off x="822960" y="207568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Повна декомпозиція від оркестратора через асинхронний брокер повідомлень</a:t>
            </a:r>
            <a:endParaRPr lang="en-US" sz="1250" noProof="1"/>
          </a:p>
        </p:txBody>
      </p:sp>
      <p:sp>
        <p:nvSpPr>
          <p:cNvPr id="14" name="Text 14"/>
          <p:cNvSpPr/>
          <p:nvPr/>
        </p:nvSpPr>
        <p:spPr>
          <a:xfrm>
            <a:off x="502920" y="2734056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250" noProof="1"/>
          </a:p>
        </p:txBody>
      </p:sp>
      <p:sp>
        <p:nvSpPr>
          <p:cNvPr id="15" name="Text 15"/>
          <p:cNvSpPr/>
          <p:nvPr/>
        </p:nvSpPr>
        <p:spPr>
          <a:xfrm>
            <a:off x="822960" y="273405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патерни взаємодії агентів — Supervisor, ReAct, Blackboard — і механізми стійкості: ACL, exponential backoff, ack-after-publish</a:t>
            </a:r>
            <a:endParaRPr lang="en-US" sz="1250" noProof="1"/>
          </a:p>
        </p:txBody>
      </p:sp>
      <p:sp>
        <p:nvSpPr>
          <p:cNvPr id="16" name="Text 16"/>
          <p:cNvSpPr/>
          <p:nvPr/>
        </p:nvSpPr>
        <p:spPr>
          <a:xfrm>
            <a:off x="502920" y="3392424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noProof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250" noProof="1"/>
          </a:p>
        </p:txBody>
      </p:sp>
      <p:sp>
        <p:nvSpPr>
          <p:cNvPr id="17" name="Text 17"/>
          <p:cNvSpPr/>
          <p:nvPr/>
        </p:nvSpPr>
        <p:spPr>
          <a:xfrm>
            <a:off x="822960" y="339242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noProof="1">
                <a:solidFill>
                  <a:srgbClr val="3A46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покриття тестами, контейнеризація та CI/CD з демонстрацією горизонтального масштабування</a:t>
            </a:r>
            <a:endParaRPr lang="en-US" sz="1250" noProof="1"/>
          </a:p>
        </p:txBody>
      </p:sp>
      <p:sp>
        <p:nvSpPr>
          <p:cNvPr id="18" name="Shape 18"/>
          <p:cNvSpPr/>
          <p:nvPr/>
        </p:nvSpPr>
        <p:spPr>
          <a:xfrm>
            <a:off x="5349240" y="1371600"/>
            <a:ext cx="3291840" cy="2907792"/>
          </a:xfrm>
          <a:prstGeom prst="roundRect">
            <a:avLst>
              <a:gd name="adj" fmla="val 5161"/>
            </a:avLst>
          </a:prstGeom>
          <a:solidFill>
            <a:srgbClr val="EEFBF8"/>
          </a:solidFill>
          <a:ln w="12700">
            <a:solidFill>
              <a:srgbClr val="CDEAE4"/>
            </a:solidFill>
            <a:prstDash val="solid"/>
          </a:ln>
          <a:effectLst>
            <a:outerShdw blurRad="88900" dist="25400" dir="5400000" algn="bl" rotWithShape="0">
              <a:srgbClr val="9AA6B4">
                <a:alpha val="30000"/>
              </a:srgbClr>
            </a:outerShdw>
          </a:effectLst>
        </p:spPr>
        <p:txBody>
          <a:bodyPr/>
          <a:lstStyle/>
          <a:p>
            <a:endParaRPr lang="en-US" noProof="1"/>
          </a:p>
        </p:txBody>
      </p:sp>
      <p:sp>
        <p:nvSpPr>
          <p:cNvPr id="19" name="Text 19"/>
          <p:cNvSpPr/>
          <p:nvPr/>
        </p:nvSpPr>
        <p:spPr>
          <a:xfrm>
            <a:off x="5559552" y="157276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noProof="1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ПЕРСПЕКТИВИ РОЗВИТКУ</a:t>
            </a:r>
            <a:endParaRPr lang="en-US" sz="1200" noProof="1"/>
          </a:p>
        </p:txBody>
      </p:sp>
      <p:sp>
        <p:nvSpPr>
          <p:cNvPr id="20" name="Shape 20"/>
          <p:cNvSpPr/>
          <p:nvPr/>
        </p:nvSpPr>
        <p:spPr>
          <a:xfrm>
            <a:off x="5559552" y="2011680"/>
            <a:ext cx="91440" cy="91440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1" name="Text 21"/>
          <p:cNvSpPr/>
          <p:nvPr/>
        </p:nvSpPr>
        <p:spPr>
          <a:xfrm>
            <a:off x="5742432" y="192938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як цільове промислове середовище з автомасштабуванням за довжиною черги</a:t>
            </a:r>
            <a:endParaRPr lang="en-US" sz="1100" noProof="1"/>
          </a:p>
        </p:txBody>
      </p:sp>
      <p:sp>
        <p:nvSpPr>
          <p:cNvPr id="22" name="Shape 22"/>
          <p:cNvSpPr/>
          <p:nvPr/>
        </p:nvSpPr>
        <p:spPr>
          <a:xfrm>
            <a:off x="5559552" y="2560320"/>
            <a:ext cx="91440" cy="91440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3" name="Text 23"/>
          <p:cNvSpPr/>
          <p:nvPr/>
        </p:nvSpPr>
        <p:spPr>
          <a:xfrm>
            <a:off x="5742432" y="247802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Пул інстансів Ollama на кількох GPU для масштабування шару інференсу</a:t>
            </a:r>
            <a:endParaRPr lang="en-US" sz="1100" noProof="1"/>
          </a:p>
        </p:txBody>
      </p:sp>
      <p:sp>
        <p:nvSpPr>
          <p:cNvPr id="24" name="Shape 24"/>
          <p:cNvSpPr/>
          <p:nvPr/>
        </p:nvSpPr>
        <p:spPr>
          <a:xfrm>
            <a:off x="5559552" y="3108960"/>
            <a:ext cx="91440" cy="91440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5" name="Text 25"/>
          <p:cNvSpPr/>
          <p:nvPr/>
        </p:nvSpPr>
        <p:spPr>
          <a:xfrm>
            <a:off x="5742432" y="302666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Спостережуваність: метрики Prometheus та наскрізне трасування OpenTelemetry</a:t>
            </a:r>
            <a:endParaRPr lang="en-US" sz="1100" noProof="1"/>
          </a:p>
        </p:txBody>
      </p:sp>
      <p:sp>
        <p:nvSpPr>
          <p:cNvPr id="26" name="Shape 26"/>
          <p:cNvSpPr/>
          <p:nvPr/>
        </p:nvSpPr>
        <p:spPr>
          <a:xfrm>
            <a:off x="5559552" y="3657600"/>
            <a:ext cx="91440" cy="91440"/>
          </a:xfrm>
          <a:prstGeom prst="roundRect">
            <a:avLst>
              <a:gd name="adj" fmla="val 157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 noProof="1"/>
          </a:p>
        </p:txBody>
      </p:sp>
      <p:sp>
        <p:nvSpPr>
          <p:cNvPr id="27" name="Text 27"/>
          <p:cNvSpPr/>
          <p:nvPr/>
        </p:nvSpPr>
        <p:spPr>
          <a:xfrm>
            <a:off x="5742432" y="357530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noProof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Нові інструменти агентів: векторні сховища, SQL-запити, генерація діаграм</a:t>
            </a:r>
            <a:endParaRPr lang="en-US" sz="1100" noProof="1"/>
          </a:p>
        </p:txBody>
      </p:sp>
      <p:sp>
        <p:nvSpPr>
          <p:cNvPr id="28" name="Text 28"/>
          <p:cNvSpPr/>
          <p:nvPr/>
        </p:nvSpPr>
        <p:spPr>
          <a:xfrm>
            <a:off x="502920" y="434340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noProof="1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8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1860</TotalTime>
  <Words>3124</Words>
  <Application>Microsoft Office PowerPoint</Application>
  <PresentationFormat>On-screen Show (16:9)</PresentationFormat>
  <Paragraphs>276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/>
  <cp:lastModifiedBy>Sasha Shelekhan</cp:lastModifiedBy>
  <cp:revision>6</cp:revision>
  <dcterms:created xsi:type="dcterms:W3CDTF">2026-07-08T14:20:43Z</dcterms:created>
  <dcterms:modified xsi:type="dcterms:W3CDTF">2026-07-13T19:25:46Z</dcterms:modified>
</cp:coreProperties>
</file>